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0965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0392B"/>
          </a:solidFill>
          <a:ln/>
        </p:spPr>
        <p:txBody>
          <a:bodyPr/>
          <a:lstStyle/>
          <a:p>
            <a:endParaRPr lang="en-IN"/>
          </a:p>
        </p:txBody>
      </p:sp>
      <p:sp>
        <p:nvSpPr>
          <p:cNvPr id="3" name="Text 1"/>
          <p:cNvSpPr/>
          <p:nvPr/>
        </p:nvSpPr>
        <p:spPr>
          <a:xfrm>
            <a:off x="914400" y="365760"/>
            <a:ext cx="7315200" cy="457200"/>
          </a:xfrm>
          <a:prstGeom prst="rect">
            <a:avLst/>
          </a:prstGeom>
          <a:noFill/>
          <a:ln/>
        </p:spPr>
        <p:txBody>
          <a:bodyPr wrap="square" rtlCol="0" anchor="ctr"/>
          <a:lstStyle/>
          <a:p>
            <a:pPr marL="0" indent="0" algn="ctr">
              <a:buNone/>
            </a:pPr>
            <a:r>
              <a:rPr lang="en-US" sz="2000" dirty="0">
                <a:solidFill>
                  <a:srgbClr val="8899AA"/>
                </a:solidFill>
                <a:latin typeface="Georgia" pitchFamily="34" charset="0"/>
                <a:ea typeface="Georgia" pitchFamily="34" charset="-122"/>
                <a:cs typeface="Georgia" pitchFamily="34" charset="-120"/>
              </a:rPr>
              <a:t>A</a:t>
            </a:r>
            <a:endParaRPr lang="en-US" sz="2000" dirty="0"/>
          </a:p>
        </p:txBody>
      </p:sp>
      <p:sp>
        <p:nvSpPr>
          <p:cNvPr id="4" name="Text 2"/>
          <p:cNvSpPr/>
          <p:nvPr/>
        </p:nvSpPr>
        <p:spPr>
          <a:xfrm>
            <a:off x="914400" y="685800"/>
            <a:ext cx="7315200" cy="457200"/>
          </a:xfrm>
          <a:prstGeom prst="rect">
            <a:avLst/>
          </a:prstGeom>
          <a:noFill/>
          <a:ln/>
        </p:spPr>
        <p:txBody>
          <a:bodyPr wrap="square" rtlCol="0" anchor="ctr"/>
          <a:lstStyle/>
          <a:p>
            <a:pPr marL="0" indent="0" algn="ctr">
              <a:buNone/>
            </a:pPr>
            <a:r>
              <a:rPr lang="en-US" sz="1800" dirty="0">
                <a:solidFill>
                  <a:srgbClr val="AABBCC"/>
                </a:solidFill>
                <a:latin typeface="Georgia" pitchFamily="34" charset="0"/>
                <a:ea typeface="Georgia" pitchFamily="34" charset="-122"/>
                <a:cs typeface="Georgia" pitchFamily="34" charset="-120"/>
              </a:rPr>
              <a:t>Project Review Presentation</a:t>
            </a:r>
            <a:endParaRPr lang="en-US" sz="1800" dirty="0"/>
          </a:p>
        </p:txBody>
      </p:sp>
      <p:sp>
        <p:nvSpPr>
          <p:cNvPr id="5" name="Text 3"/>
          <p:cNvSpPr/>
          <p:nvPr/>
        </p:nvSpPr>
        <p:spPr>
          <a:xfrm>
            <a:off x="914400" y="1051560"/>
            <a:ext cx="7315200" cy="320040"/>
          </a:xfrm>
          <a:prstGeom prst="rect">
            <a:avLst/>
          </a:prstGeom>
          <a:noFill/>
          <a:ln/>
        </p:spPr>
        <p:txBody>
          <a:bodyPr wrap="square" rtlCol="0" anchor="ctr"/>
          <a:lstStyle/>
          <a:p>
            <a:pPr marL="0" indent="0" algn="ctr">
              <a:buNone/>
            </a:pPr>
            <a:r>
              <a:rPr lang="en-US" sz="1400" dirty="0">
                <a:solidFill>
                  <a:srgbClr val="8899AA"/>
                </a:solidFill>
                <a:latin typeface="Georgia" pitchFamily="34" charset="0"/>
                <a:ea typeface="Georgia" pitchFamily="34" charset="-122"/>
                <a:cs typeface="Georgia" pitchFamily="34" charset="-120"/>
              </a:rPr>
              <a:t>on</a:t>
            </a:r>
            <a:endParaRPr lang="en-US" sz="1400" dirty="0"/>
          </a:p>
        </p:txBody>
      </p:sp>
      <p:sp>
        <p:nvSpPr>
          <p:cNvPr id="6" name="Text 4"/>
          <p:cNvSpPr/>
          <p:nvPr/>
        </p:nvSpPr>
        <p:spPr>
          <a:xfrm>
            <a:off x="457200" y="1463040"/>
            <a:ext cx="8229600" cy="1097280"/>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"A Deep Learning-Based Framework for Face</a:t>
            </a:r>
            <a:endParaRPr lang="en-US" sz="2600" dirty="0"/>
          </a:p>
          <a:p>
            <a:pPr marL="0" indent="0" algn="ctr">
              <a:buNone/>
            </a:pPr>
            <a:r>
              <a:rPr lang="en-US" sz="2600" b="1" dirty="0">
                <a:solidFill>
                  <a:srgbClr val="FFFFFF"/>
                </a:solidFill>
                <a:latin typeface="Georgia" pitchFamily="34" charset="0"/>
                <a:ea typeface="Georgia" pitchFamily="34" charset="-122"/>
                <a:cs typeface="Georgia" pitchFamily="34" charset="-120"/>
              </a:rPr>
              <a:t>Authentication Detection"</a:t>
            </a:r>
            <a:endParaRPr lang="en-US" sz="2600" dirty="0"/>
          </a:p>
        </p:txBody>
      </p:sp>
      <p:sp>
        <p:nvSpPr>
          <p:cNvPr id="7" name="Text 5"/>
          <p:cNvSpPr/>
          <p:nvPr/>
        </p:nvSpPr>
        <p:spPr>
          <a:xfrm>
            <a:off x="914400" y="2651760"/>
            <a:ext cx="7315200" cy="320040"/>
          </a:xfrm>
          <a:prstGeom prst="rect">
            <a:avLst/>
          </a:prstGeom>
          <a:noFill/>
          <a:ln/>
        </p:spPr>
        <p:txBody>
          <a:bodyPr wrap="square" rtlCol="0" anchor="ctr"/>
          <a:lstStyle/>
          <a:p>
            <a:pPr marL="0" indent="0" algn="ctr">
              <a:buNone/>
            </a:pPr>
            <a:r>
              <a:rPr lang="en-US" sz="1200" dirty="0">
                <a:solidFill>
                  <a:srgbClr val="AABBCC"/>
                </a:solidFill>
                <a:latin typeface="Calibri" pitchFamily="34" charset="0"/>
                <a:ea typeface="Calibri" pitchFamily="34" charset="-122"/>
                <a:cs typeface="Calibri" pitchFamily="34" charset="-120"/>
              </a:rPr>
              <a:t>By</a:t>
            </a:r>
            <a:endParaRPr lang="en-US" sz="1200" dirty="0"/>
          </a:p>
        </p:txBody>
      </p:sp>
      <p:sp>
        <p:nvSpPr>
          <p:cNvPr id="8" name="Text 6"/>
          <p:cNvSpPr/>
          <p:nvPr/>
        </p:nvSpPr>
        <p:spPr>
          <a:xfrm>
            <a:off x="914400" y="2880360"/>
            <a:ext cx="731520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Team ID : B03</a:t>
            </a:r>
            <a:endParaRPr lang="en-US" sz="1400" dirty="0"/>
          </a:p>
        </p:txBody>
      </p:sp>
      <p:sp>
        <p:nvSpPr>
          <p:cNvPr id="9" name="Text 7"/>
          <p:cNvSpPr/>
          <p:nvPr/>
        </p:nvSpPr>
        <p:spPr>
          <a:xfrm>
            <a:off x="1828800" y="3246120"/>
            <a:ext cx="5486400" cy="1005840"/>
          </a:xfrm>
          <a:prstGeom prst="rect">
            <a:avLst/>
          </a:prstGeom>
          <a:noFill/>
          <a:ln/>
        </p:spPr>
        <p:txBody>
          <a:bodyPr wrap="square" rtlCol="0" anchor="ctr"/>
          <a:lstStyle/>
          <a:p>
            <a:pPr marL="0" indent="0" algn="ctr">
              <a:lnSpc>
                <a:spcPct val="130000"/>
              </a:lnSpc>
              <a:buNone/>
            </a:pPr>
            <a:r>
              <a:rPr lang="en-US" sz="1100" dirty="0">
                <a:solidFill>
                  <a:srgbClr val="CCDDEE"/>
                </a:solidFill>
                <a:latin typeface="Calibri" pitchFamily="34" charset="0"/>
                <a:ea typeface="Calibri" pitchFamily="34" charset="-122"/>
                <a:cs typeface="Calibri" pitchFamily="34" charset="-120"/>
              </a:rPr>
              <a:t>Mr. Bhushan Devidas Sonavane (2201104851)</a:t>
            </a:r>
            <a:endParaRPr lang="en-US" sz="1100" dirty="0"/>
          </a:p>
          <a:p>
            <a:pPr marL="0" indent="0" algn="ctr">
              <a:lnSpc>
                <a:spcPct val="130000"/>
              </a:lnSpc>
              <a:buNone/>
            </a:pPr>
            <a:r>
              <a:rPr lang="en-US" sz="1100" dirty="0">
                <a:solidFill>
                  <a:srgbClr val="CCDDEE"/>
                </a:solidFill>
                <a:latin typeface="Calibri" pitchFamily="34" charset="0"/>
                <a:ea typeface="Calibri" pitchFamily="34" charset="-122"/>
                <a:cs typeface="Calibri" pitchFamily="34" charset="-120"/>
              </a:rPr>
              <a:t>Mr. Aditya Somnath Sarode (2201104843)</a:t>
            </a:r>
            <a:endParaRPr lang="en-US" sz="1100" dirty="0"/>
          </a:p>
          <a:p>
            <a:pPr marL="0" indent="0" algn="ctr">
              <a:lnSpc>
                <a:spcPct val="130000"/>
              </a:lnSpc>
              <a:buNone/>
            </a:pPr>
            <a:r>
              <a:rPr lang="en-US" sz="1100" dirty="0">
                <a:solidFill>
                  <a:srgbClr val="CCDDEE"/>
                </a:solidFill>
                <a:latin typeface="Calibri" pitchFamily="34" charset="0"/>
                <a:ea typeface="Calibri" pitchFamily="34" charset="-122"/>
                <a:cs typeface="Calibri" pitchFamily="34" charset="-120"/>
              </a:rPr>
              <a:t>Mr. Darshan Sunil Satpute (2201104845)</a:t>
            </a:r>
            <a:endParaRPr lang="en-US" sz="1100" dirty="0"/>
          </a:p>
          <a:p>
            <a:pPr marL="0" indent="0" algn="ctr">
              <a:lnSpc>
                <a:spcPct val="130000"/>
              </a:lnSpc>
              <a:buNone/>
            </a:pPr>
            <a:r>
              <a:rPr lang="en-US" sz="1100" dirty="0">
                <a:solidFill>
                  <a:srgbClr val="CCDDEE"/>
                </a:solidFill>
                <a:latin typeface="Calibri" pitchFamily="34" charset="0"/>
                <a:ea typeface="Calibri" pitchFamily="34" charset="-122"/>
                <a:cs typeface="Calibri" pitchFamily="34" charset="-120"/>
              </a:rPr>
              <a:t>Mr. Darshan Sakharam Shinde (2201104848)</a:t>
            </a:r>
            <a:endParaRPr lang="en-US" sz="1100" dirty="0"/>
          </a:p>
        </p:txBody>
      </p:sp>
      <p:sp>
        <p:nvSpPr>
          <p:cNvPr id="10" name="Text 8"/>
          <p:cNvSpPr/>
          <p:nvPr/>
        </p:nvSpPr>
        <p:spPr>
          <a:xfrm>
            <a:off x="914400" y="4206240"/>
            <a:ext cx="7315200" cy="274320"/>
          </a:xfrm>
          <a:prstGeom prst="rect">
            <a:avLst/>
          </a:prstGeom>
          <a:noFill/>
          <a:ln/>
        </p:spPr>
        <p:txBody>
          <a:bodyPr wrap="square" rtlCol="0" anchor="ctr"/>
          <a:lstStyle/>
          <a:p>
            <a:pPr marL="0" indent="0" algn="ctr">
              <a:buNone/>
            </a:pPr>
            <a:r>
              <a:rPr lang="en-US" sz="1100" dirty="0">
                <a:solidFill>
                  <a:srgbClr val="AABBCC"/>
                </a:solidFill>
                <a:latin typeface="Calibri" pitchFamily="34" charset="0"/>
                <a:ea typeface="Calibri" pitchFamily="34" charset="-122"/>
                <a:cs typeface="Calibri" pitchFamily="34" charset="-120"/>
              </a:rPr>
              <a:t>Under The Guidance of</a:t>
            </a:r>
            <a:endParaRPr lang="en-US" sz="1100" dirty="0"/>
          </a:p>
        </p:txBody>
      </p:sp>
      <p:sp>
        <p:nvSpPr>
          <p:cNvPr id="11" name="Text 9"/>
          <p:cNvSpPr/>
          <p:nvPr/>
        </p:nvSpPr>
        <p:spPr>
          <a:xfrm>
            <a:off x="914400" y="4434840"/>
            <a:ext cx="731520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Dr. R.S. Gaikwad</a:t>
            </a:r>
            <a:endParaRPr lang="en-US" sz="1300" dirty="0"/>
          </a:p>
        </p:txBody>
      </p:sp>
      <p:sp>
        <p:nvSpPr>
          <p:cNvPr id="12" name="Text 10"/>
          <p:cNvSpPr/>
          <p:nvPr/>
        </p:nvSpPr>
        <p:spPr>
          <a:xfrm>
            <a:off x="914400" y="4663440"/>
            <a:ext cx="7315200" cy="274320"/>
          </a:xfrm>
          <a:prstGeom prst="rect">
            <a:avLst/>
          </a:prstGeom>
          <a:noFill/>
          <a:ln/>
        </p:spPr>
        <p:txBody>
          <a:bodyPr wrap="square" rtlCol="0" anchor="ctr"/>
          <a:lstStyle/>
          <a:p>
            <a:pPr marL="0" indent="0" algn="ctr">
              <a:buNone/>
            </a:pPr>
            <a:r>
              <a:rPr lang="en-US" sz="1000" dirty="0">
                <a:solidFill>
                  <a:srgbClr val="8899AA"/>
                </a:solidFill>
                <a:latin typeface="Calibri" pitchFamily="34" charset="0"/>
                <a:ea typeface="Calibri" pitchFamily="34" charset="-122"/>
                <a:cs typeface="Calibri" pitchFamily="34" charset="-120"/>
              </a:rPr>
              <a:t>Dept. of Computer Engineering  AVCOE, Sangamner</a:t>
            </a:r>
            <a:endParaRPr lang="en-US" sz="1000" dirty="0"/>
          </a:p>
        </p:txBody>
      </p:sp>
      <p:sp>
        <p:nvSpPr>
          <p:cNvPr id="13" name="Shape 11"/>
          <p:cNvSpPr/>
          <p:nvPr/>
        </p:nvSpPr>
        <p:spPr>
          <a:xfrm>
            <a:off x="0" y="5070348"/>
            <a:ext cx="9144000" cy="73152"/>
          </a:xfrm>
          <a:prstGeom prst="rect">
            <a:avLst/>
          </a:prstGeom>
          <a:solidFill>
            <a:srgbClr val="C0392B"/>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77724"/>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OUTLINE</a:t>
            </a:r>
            <a:endParaRPr lang="en-US" sz="2000" dirty="0"/>
          </a:p>
        </p:txBody>
      </p:sp>
      <p:sp>
        <p:nvSpPr>
          <p:cNvPr id="3" name="Shape 1"/>
          <p:cNvSpPr/>
          <p:nvPr/>
        </p:nvSpPr>
        <p:spPr>
          <a:xfrm>
            <a:off x="3959157" y="434502"/>
            <a:ext cx="1225685" cy="0"/>
          </a:xfrm>
          <a:prstGeom prst="line">
            <a:avLst/>
          </a:prstGeom>
          <a:noFill/>
          <a:ln w="25400">
            <a:solidFill>
              <a:srgbClr val="C0392B"/>
            </a:solidFill>
            <a:prstDash val="solid"/>
          </a:ln>
        </p:spPr>
        <p:txBody>
          <a:bodyPr/>
          <a:lstStyle/>
          <a:p>
            <a:endParaRPr lang="en-IN"/>
          </a:p>
        </p:txBody>
      </p:sp>
      <p:sp>
        <p:nvSpPr>
          <p:cNvPr id="4" name="Shape 2"/>
          <p:cNvSpPr/>
          <p:nvPr/>
        </p:nvSpPr>
        <p:spPr>
          <a:xfrm>
            <a:off x="1929384" y="738589"/>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1929384" y="738589"/>
            <a:ext cx="475488" cy="475488"/>
          </a:xfrm>
          <a:prstGeom prst="rect">
            <a:avLst/>
          </a:prstGeom>
          <a:solidFill>
            <a:srgbClr val="1E3A5F"/>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2029968" y="839173"/>
            <a:ext cx="274320" cy="274320"/>
          </a:xfrm>
          <a:prstGeom prst="rect">
            <a:avLst/>
          </a:prstGeom>
        </p:spPr>
      </p:pic>
      <p:sp>
        <p:nvSpPr>
          <p:cNvPr id="7" name="Text 4"/>
          <p:cNvSpPr/>
          <p:nvPr/>
        </p:nvSpPr>
        <p:spPr>
          <a:xfrm>
            <a:off x="2569464" y="738589"/>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Process Model</a:t>
            </a:r>
            <a:endParaRPr lang="en-US" sz="1500" dirty="0"/>
          </a:p>
        </p:txBody>
      </p:sp>
      <p:sp>
        <p:nvSpPr>
          <p:cNvPr id="8" name="Shape 5"/>
          <p:cNvSpPr/>
          <p:nvPr/>
        </p:nvSpPr>
        <p:spPr>
          <a:xfrm>
            <a:off x="1929384" y="1332949"/>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6"/>
          <p:cNvSpPr/>
          <p:nvPr/>
        </p:nvSpPr>
        <p:spPr>
          <a:xfrm>
            <a:off x="1929384" y="1332949"/>
            <a:ext cx="475488" cy="475488"/>
          </a:xfrm>
          <a:prstGeom prst="rect">
            <a:avLst/>
          </a:prstGeom>
          <a:solidFill>
            <a:srgbClr val="1E3A5F"/>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2029968" y="1433533"/>
            <a:ext cx="274320" cy="274320"/>
          </a:xfrm>
          <a:prstGeom prst="rect">
            <a:avLst/>
          </a:prstGeom>
        </p:spPr>
      </p:pic>
      <p:sp>
        <p:nvSpPr>
          <p:cNvPr id="11" name="Text 7"/>
          <p:cNvSpPr/>
          <p:nvPr/>
        </p:nvSpPr>
        <p:spPr>
          <a:xfrm>
            <a:off x="2569464" y="1332949"/>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Mathematical Model</a:t>
            </a:r>
            <a:endParaRPr lang="en-US" sz="1500" dirty="0"/>
          </a:p>
        </p:txBody>
      </p:sp>
      <p:sp>
        <p:nvSpPr>
          <p:cNvPr id="12" name="Shape 8"/>
          <p:cNvSpPr/>
          <p:nvPr/>
        </p:nvSpPr>
        <p:spPr>
          <a:xfrm>
            <a:off x="1929384" y="1927309"/>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9"/>
          <p:cNvSpPr/>
          <p:nvPr/>
        </p:nvSpPr>
        <p:spPr>
          <a:xfrm>
            <a:off x="1929384" y="1927309"/>
            <a:ext cx="475488" cy="475488"/>
          </a:xfrm>
          <a:prstGeom prst="rect">
            <a:avLst/>
          </a:prstGeom>
          <a:solidFill>
            <a:srgbClr val="1E3A5F"/>
          </a:solidFill>
          <a:ln/>
        </p:spPr>
        <p:txBody>
          <a:bodyPr/>
          <a:lstStyle/>
          <a:p>
            <a:endParaRPr lang="en-IN"/>
          </a:p>
        </p:txBody>
      </p:sp>
      <p:pic>
        <p:nvPicPr>
          <p:cNvPr id="14" name="Image 2" descr="preencoded.png"/>
          <p:cNvPicPr>
            <a:picLocks noChangeAspect="1"/>
          </p:cNvPicPr>
          <p:nvPr/>
        </p:nvPicPr>
        <p:blipFill>
          <a:blip r:embed="rId5"/>
          <a:stretch>
            <a:fillRect/>
          </a:stretch>
        </p:blipFill>
        <p:spPr>
          <a:xfrm>
            <a:off x="2029968" y="2027893"/>
            <a:ext cx="274320" cy="274320"/>
          </a:xfrm>
          <a:prstGeom prst="rect">
            <a:avLst/>
          </a:prstGeom>
        </p:spPr>
      </p:pic>
      <p:sp>
        <p:nvSpPr>
          <p:cNvPr id="15" name="Text 10"/>
          <p:cNvSpPr/>
          <p:nvPr/>
        </p:nvSpPr>
        <p:spPr>
          <a:xfrm>
            <a:off x="2569464" y="1927309"/>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Architectural Model</a:t>
            </a:r>
            <a:endParaRPr lang="en-US" sz="1500" dirty="0"/>
          </a:p>
        </p:txBody>
      </p:sp>
      <p:sp>
        <p:nvSpPr>
          <p:cNvPr id="16" name="Shape 11"/>
          <p:cNvSpPr/>
          <p:nvPr/>
        </p:nvSpPr>
        <p:spPr>
          <a:xfrm>
            <a:off x="1929384" y="2521669"/>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2"/>
          <p:cNvSpPr/>
          <p:nvPr/>
        </p:nvSpPr>
        <p:spPr>
          <a:xfrm>
            <a:off x="1929384" y="2521669"/>
            <a:ext cx="475488" cy="475488"/>
          </a:xfrm>
          <a:prstGeom prst="rect">
            <a:avLst/>
          </a:prstGeom>
          <a:solidFill>
            <a:srgbClr val="1E3A5F"/>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2029968" y="2622253"/>
            <a:ext cx="274320" cy="274320"/>
          </a:xfrm>
          <a:prstGeom prst="rect">
            <a:avLst/>
          </a:prstGeom>
        </p:spPr>
      </p:pic>
      <p:sp>
        <p:nvSpPr>
          <p:cNvPr id="19" name="Text 13"/>
          <p:cNvSpPr/>
          <p:nvPr/>
        </p:nvSpPr>
        <p:spPr>
          <a:xfrm>
            <a:off x="2569464" y="2521669"/>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Component Diagram</a:t>
            </a:r>
            <a:endParaRPr lang="en-US" sz="1500" dirty="0"/>
          </a:p>
        </p:txBody>
      </p:sp>
      <p:sp>
        <p:nvSpPr>
          <p:cNvPr id="20" name="Shape 14"/>
          <p:cNvSpPr/>
          <p:nvPr/>
        </p:nvSpPr>
        <p:spPr>
          <a:xfrm>
            <a:off x="1929384" y="3116029"/>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1" name="Shape 15"/>
          <p:cNvSpPr/>
          <p:nvPr/>
        </p:nvSpPr>
        <p:spPr>
          <a:xfrm>
            <a:off x="1929384" y="3116029"/>
            <a:ext cx="475488" cy="475488"/>
          </a:xfrm>
          <a:prstGeom prst="rect">
            <a:avLst/>
          </a:prstGeom>
          <a:solidFill>
            <a:srgbClr val="1E3A5F"/>
          </a:solidFill>
          <a:ln/>
        </p:spPr>
        <p:txBody>
          <a:bodyPr/>
          <a:lstStyle/>
          <a:p>
            <a:endParaRPr lang="en-IN"/>
          </a:p>
        </p:txBody>
      </p:sp>
      <p:pic>
        <p:nvPicPr>
          <p:cNvPr id="22" name="Image 4" descr="preencoded.png"/>
          <p:cNvPicPr>
            <a:picLocks noChangeAspect="1"/>
          </p:cNvPicPr>
          <p:nvPr/>
        </p:nvPicPr>
        <p:blipFill>
          <a:blip r:embed="rId7"/>
          <a:stretch>
            <a:fillRect/>
          </a:stretch>
        </p:blipFill>
        <p:spPr>
          <a:xfrm>
            <a:off x="2029968" y="3216613"/>
            <a:ext cx="274320" cy="274320"/>
          </a:xfrm>
          <a:prstGeom prst="rect">
            <a:avLst/>
          </a:prstGeom>
        </p:spPr>
      </p:pic>
      <p:sp>
        <p:nvSpPr>
          <p:cNvPr id="23" name="Text 16"/>
          <p:cNvSpPr/>
          <p:nvPr/>
        </p:nvSpPr>
        <p:spPr>
          <a:xfrm>
            <a:off x="2569464" y="3116029"/>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Deployment Diagram</a:t>
            </a:r>
            <a:endParaRPr lang="en-US" sz="1500" dirty="0"/>
          </a:p>
        </p:txBody>
      </p:sp>
      <p:sp>
        <p:nvSpPr>
          <p:cNvPr id="24" name="Shape 17"/>
          <p:cNvSpPr/>
          <p:nvPr/>
        </p:nvSpPr>
        <p:spPr>
          <a:xfrm>
            <a:off x="1929384" y="3710389"/>
            <a:ext cx="5486400" cy="4754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5" name="Shape 18"/>
          <p:cNvSpPr/>
          <p:nvPr/>
        </p:nvSpPr>
        <p:spPr>
          <a:xfrm>
            <a:off x="1929384" y="3710389"/>
            <a:ext cx="475488" cy="475488"/>
          </a:xfrm>
          <a:prstGeom prst="rect">
            <a:avLst/>
          </a:prstGeom>
          <a:solidFill>
            <a:srgbClr val="1E3A5F"/>
          </a:solidFill>
          <a:ln/>
        </p:spPr>
        <p:txBody>
          <a:bodyPr/>
          <a:lstStyle/>
          <a:p>
            <a:endParaRPr lang="en-IN"/>
          </a:p>
        </p:txBody>
      </p:sp>
      <p:pic>
        <p:nvPicPr>
          <p:cNvPr id="26" name="Image 5" descr="preencoded.png"/>
          <p:cNvPicPr>
            <a:picLocks noChangeAspect="1"/>
          </p:cNvPicPr>
          <p:nvPr/>
        </p:nvPicPr>
        <p:blipFill>
          <a:blip r:embed="rId8"/>
          <a:stretch>
            <a:fillRect/>
          </a:stretch>
        </p:blipFill>
        <p:spPr>
          <a:xfrm>
            <a:off x="2029968" y="3810973"/>
            <a:ext cx="274320" cy="274320"/>
          </a:xfrm>
          <a:prstGeom prst="rect">
            <a:avLst/>
          </a:prstGeom>
        </p:spPr>
      </p:pic>
      <p:sp>
        <p:nvSpPr>
          <p:cNvPr id="27" name="Text 19"/>
          <p:cNvSpPr/>
          <p:nvPr/>
        </p:nvSpPr>
        <p:spPr>
          <a:xfrm>
            <a:off x="2569464" y="3710389"/>
            <a:ext cx="4572000" cy="475488"/>
          </a:xfrm>
          <a:prstGeom prst="rect">
            <a:avLst/>
          </a:prstGeom>
          <a:noFill/>
          <a:ln/>
        </p:spPr>
        <p:txBody>
          <a:bodyPr wrap="square" lIns="0" tIns="0" rIns="0" bIns="0" rtlCol="0" anchor="ctr"/>
          <a:lstStyle/>
          <a:p>
            <a:pPr marL="0" indent="0">
              <a:buNone/>
            </a:pPr>
            <a:r>
              <a:rPr lang="en-US" sz="1500" b="1" dirty="0">
                <a:solidFill>
                  <a:srgbClr val="1C1C1C"/>
                </a:solidFill>
                <a:latin typeface="Calibri" pitchFamily="34" charset="0"/>
                <a:ea typeface="Calibri" pitchFamily="34" charset="-122"/>
                <a:cs typeface="Calibri" pitchFamily="34" charset="-120"/>
              </a:rPr>
              <a:t>NP-Completeness</a:t>
            </a:r>
            <a:endParaRPr lang="en-US" sz="1500" dirty="0"/>
          </a:p>
        </p:txBody>
      </p:sp>
      <p:sp>
        <p:nvSpPr>
          <p:cNvPr id="28" name="Text 20"/>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9" name="Text 21"/>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68580"/>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PROCESS MODEL</a:t>
            </a:r>
            <a:endParaRPr lang="en-US" sz="2000" dirty="0"/>
          </a:p>
        </p:txBody>
      </p:sp>
      <p:sp>
        <p:nvSpPr>
          <p:cNvPr id="3" name="Shape 1"/>
          <p:cNvSpPr/>
          <p:nvPr/>
        </p:nvSpPr>
        <p:spPr>
          <a:xfrm>
            <a:off x="3594824" y="447473"/>
            <a:ext cx="1909864" cy="0"/>
          </a:xfrm>
          <a:prstGeom prst="line">
            <a:avLst/>
          </a:prstGeom>
          <a:noFill/>
          <a:ln w="25400">
            <a:solidFill>
              <a:srgbClr val="C0392B"/>
            </a:solidFill>
            <a:prstDash val="solid"/>
          </a:ln>
        </p:spPr>
        <p:txBody>
          <a:bodyPr/>
          <a:lstStyle/>
          <a:p>
            <a:endParaRPr lang="en-IN"/>
          </a:p>
        </p:txBody>
      </p:sp>
      <p:sp>
        <p:nvSpPr>
          <p:cNvPr id="4" name="Shape 2"/>
          <p:cNvSpPr/>
          <p:nvPr/>
        </p:nvSpPr>
        <p:spPr>
          <a:xfrm>
            <a:off x="624408" y="667220"/>
            <a:ext cx="7947498" cy="1110996"/>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624408" y="667220"/>
            <a:ext cx="70644" cy="1110996"/>
          </a:xfrm>
          <a:prstGeom prst="rect">
            <a:avLst/>
          </a:prstGeom>
          <a:solidFill>
            <a:srgbClr val="148F77"/>
          </a:solidFill>
          <a:ln/>
        </p:spPr>
        <p:txBody>
          <a:bodyPr/>
          <a:lstStyle/>
          <a:p>
            <a:endParaRPr lang="en-IN"/>
          </a:p>
        </p:txBody>
      </p:sp>
      <p:sp>
        <p:nvSpPr>
          <p:cNvPr id="6" name="Text 4"/>
          <p:cNvSpPr/>
          <p:nvPr/>
        </p:nvSpPr>
        <p:spPr>
          <a:xfrm>
            <a:off x="898728" y="712940"/>
            <a:ext cx="7505970" cy="341845"/>
          </a:xfrm>
          <a:prstGeom prst="rect">
            <a:avLst/>
          </a:prstGeom>
          <a:noFill/>
          <a:ln/>
        </p:spPr>
        <p:txBody>
          <a:bodyPr wrap="square" lIns="0" tIns="0" rIns="0" bIns="0" rtlCol="0" anchor="ctr"/>
          <a:lstStyle/>
          <a:p>
            <a:pPr marL="0" indent="0">
              <a:buNone/>
            </a:pPr>
            <a:r>
              <a:rPr lang="en-US" sz="1800" b="1" dirty="0">
                <a:solidFill>
                  <a:srgbClr val="1E3A5F"/>
                </a:solidFill>
                <a:latin typeface="Georgia" pitchFamily="34" charset="0"/>
                <a:ea typeface="Georgia" pitchFamily="34" charset="-122"/>
                <a:cs typeface="Georgia" pitchFamily="34" charset="-120"/>
              </a:rPr>
              <a:t>Incremental SDLC Model</a:t>
            </a:r>
            <a:endParaRPr lang="en-US" sz="1800" dirty="0"/>
          </a:p>
        </p:txBody>
      </p:sp>
      <p:sp>
        <p:nvSpPr>
          <p:cNvPr id="7" name="Text 5"/>
          <p:cNvSpPr/>
          <p:nvPr/>
        </p:nvSpPr>
        <p:spPr>
          <a:xfrm>
            <a:off x="898728" y="1078700"/>
            <a:ext cx="7505970" cy="640959"/>
          </a:xfrm>
          <a:prstGeom prst="rect">
            <a:avLst/>
          </a:prstGeom>
          <a:noFill/>
          <a:ln/>
        </p:spPr>
        <p:txBody>
          <a:bodyPr wrap="square" lIns="0" tIns="0" rIns="0" bIns="0" rtlCol="0" anchor="ctr"/>
          <a:lstStyle/>
          <a:p>
            <a:pPr marL="0" indent="0">
              <a:buNone/>
            </a:pPr>
            <a:r>
              <a:rPr lang="en-US" sz="1200" dirty="0">
                <a:solidFill>
                  <a:srgbClr val="5D6D7E"/>
                </a:solidFill>
                <a:latin typeface="Calibri" pitchFamily="34" charset="0"/>
                <a:ea typeface="Calibri" pitchFamily="34" charset="-122"/>
                <a:cs typeface="Calibri" pitchFamily="34" charset="-120"/>
              </a:rPr>
              <a:t>The project follows the Incremental Software Development Life Cycle (SDLC) model, where the system is developed and tested in phases. Each increment introduces new features and refines performance, ensuring steady progress toward a complete and reliable deepfake detection framework.</a:t>
            </a:r>
            <a:endParaRPr lang="en-US" sz="1200" dirty="0"/>
          </a:p>
        </p:txBody>
      </p:sp>
      <p:sp>
        <p:nvSpPr>
          <p:cNvPr id="8" name="Shape 6"/>
          <p:cNvSpPr/>
          <p:nvPr/>
        </p:nvSpPr>
        <p:spPr>
          <a:xfrm>
            <a:off x="1037844" y="2084832"/>
            <a:ext cx="402336" cy="402336"/>
          </a:xfrm>
          <a:prstGeom prst="ellipse">
            <a:avLst/>
          </a:prstGeom>
          <a:solidFill>
            <a:srgbClr val="1E3A5F"/>
          </a:solidFill>
          <a:ln/>
        </p:spPr>
        <p:txBody>
          <a:bodyPr/>
          <a:lstStyle/>
          <a:p>
            <a:endParaRPr lang="en-IN"/>
          </a:p>
        </p:txBody>
      </p:sp>
      <p:sp>
        <p:nvSpPr>
          <p:cNvPr id="9" name="Text 7"/>
          <p:cNvSpPr/>
          <p:nvPr/>
        </p:nvSpPr>
        <p:spPr>
          <a:xfrm>
            <a:off x="1037844" y="2084832"/>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Shape 8"/>
          <p:cNvSpPr/>
          <p:nvPr/>
        </p:nvSpPr>
        <p:spPr>
          <a:xfrm>
            <a:off x="484632" y="2587752"/>
            <a:ext cx="150876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1" name="Shape 9"/>
          <p:cNvSpPr/>
          <p:nvPr/>
        </p:nvSpPr>
        <p:spPr>
          <a:xfrm>
            <a:off x="484632" y="2587752"/>
            <a:ext cx="1508760" cy="54864"/>
          </a:xfrm>
          <a:prstGeom prst="rect">
            <a:avLst/>
          </a:prstGeom>
          <a:solidFill>
            <a:srgbClr val="148F77"/>
          </a:solidFill>
          <a:ln/>
        </p:spPr>
        <p:txBody>
          <a:bodyPr/>
          <a:lstStyle/>
          <a:p>
            <a:endParaRPr lang="en-IN"/>
          </a:p>
        </p:txBody>
      </p:sp>
      <p:sp>
        <p:nvSpPr>
          <p:cNvPr id="12" name="Text 10"/>
          <p:cNvSpPr/>
          <p:nvPr/>
        </p:nvSpPr>
        <p:spPr>
          <a:xfrm>
            <a:off x="557784" y="2697480"/>
            <a:ext cx="1362456" cy="640080"/>
          </a:xfrm>
          <a:prstGeom prst="rect">
            <a:avLst/>
          </a:prstGeom>
          <a:noFill/>
          <a:ln/>
        </p:spPr>
        <p:txBody>
          <a:bodyPr wrap="square" lIns="0" tIns="0" rIns="0" bIns="0" rtlCol="0" anchor="t"/>
          <a:lstStyle/>
          <a:p>
            <a:pPr marL="0" indent="0" algn="ctr">
              <a:buNone/>
            </a:pPr>
            <a:r>
              <a:rPr lang="en-US" sz="1100" b="1" dirty="0">
                <a:solidFill>
                  <a:srgbClr val="1E3A5F"/>
                </a:solidFill>
                <a:latin typeface="Calibri" pitchFamily="34" charset="0"/>
                <a:ea typeface="Calibri" pitchFamily="34" charset="-122"/>
                <a:cs typeface="Calibri" pitchFamily="34" charset="-120"/>
              </a:rPr>
              <a:t>Requirement</a:t>
            </a:r>
            <a:endParaRPr lang="en-US" sz="1100" dirty="0"/>
          </a:p>
          <a:p>
            <a:pPr marL="0" indent="0" algn="ctr">
              <a:buNone/>
            </a:pPr>
            <a:r>
              <a:rPr lang="en-US" sz="1100" b="1" dirty="0">
                <a:solidFill>
                  <a:srgbClr val="1E3A5F"/>
                </a:solidFill>
                <a:latin typeface="Calibri" pitchFamily="34" charset="0"/>
                <a:ea typeface="Calibri" pitchFamily="34" charset="-122"/>
                <a:cs typeface="Calibri" pitchFamily="34" charset="-120"/>
              </a:rPr>
              <a:t>Analysis</a:t>
            </a:r>
            <a:endParaRPr lang="en-US" sz="1100" dirty="0"/>
          </a:p>
        </p:txBody>
      </p:sp>
      <p:sp>
        <p:nvSpPr>
          <p:cNvPr id="13" name="Text 11"/>
          <p:cNvSpPr/>
          <p:nvPr/>
        </p:nvSpPr>
        <p:spPr>
          <a:xfrm>
            <a:off x="557784" y="3319272"/>
            <a:ext cx="1362456" cy="731520"/>
          </a:xfrm>
          <a:prstGeom prst="rect">
            <a:avLst/>
          </a:prstGeom>
          <a:noFill/>
          <a:ln/>
        </p:spPr>
        <p:txBody>
          <a:bodyPr wrap="square" lIns="0" tIns="0" rIns="0" bIns="0" rtlCol="0" anchor="t"/>
          <a:lstStyle/>
          <a:p>
            <a:pPr marL="0" indent="0" algn="ctr">
              <a:buNone/>
            </a:pPr>
            <a:r>
              <a:rPr lang="en-US" sz="950" dirty="0">
                <a:solidFill>
                  <a:srgbClr val="5D6D7E"/>
                </a:solidFill>
                <a:latin typeface="Calibri" pitchFamily="34" charset="0"/>
                <a:ea typeface="Calibri" pitchFamily="34" charset="-122"/>
                <a:cs typeface="Calibri" pitchFamily="34" charset="-120"/>
              </a:rPr>
              <a:t>Study existing work,</a:t>
            </a:r>
            <a:endParaRPr lang="en-US" sz="950" dirty="0"/>
          </a:p>
          <a:p>
            <a:pPr marL="0" indent="0" algn="ctr">
              <a:buNone/>
            </a:pPr>
            <a:r>
              <a:rPr lang="en-US" sz="950" dirty="0">
                <a:solidFill>
                  <a:srgbClr val="5D6D7E"/>
                </a:solidFill>
                <a:latin typeface="Calibri" pitchFamily="34" charset="0"/>
                <a:ea typeface="Calibri" pitchFamily="34" charset="-122"/>
                <a:cs typeface="Calibri" pitchFamily="34" charset="-120"/>
              </a:rPr>
              <a:t>define objectives</a:t>
            </a:r>
            <a:endParaRPr lang="en-US" sz="950" dirty="0"/>
          </a:p>
        </p:txBody>
      </p:sp>
      <p:pic>
        <p:nvPicPr>
          <p:cNvPr id="14" name="Image 0" descr="preencoded.png"/>
          <p:cNvPicPr>
            <a:picLocks noChangeAspect="1"/>
          </p:cNvPicPr>
          <p:nvPr/>
        </p:nvPicPr>
        <p:blipFill>
          <a:blip r:embed="rId3"/>
          <a:stretch>
            <a:fillRect/>
          </a:stretch>
        </p:blipFill>
        <p:spPr>
          <a:xfrm>
            <a:off x="2011680" y="3182112"/>
            <a:ext cx="128016" cy="128016"/>
          </a:xfrm>
          <a:prstGeom prst="rect">
            <a:avLst/>
          </a:prstGeom>
        </p:spPr>
      </p:pic>
      <p:sp>
        <p:nvSpPr>
          <p:cNvPr id="15" name="Shape 12"/>
          <p:cNvSpPr/>
          <p:nvPr/>
        </p:nvSpPr>
        <p:spPr>
          <a:xfrm>
            <a:off x="2711196" y="2084832"/>
            <a:ext cx="402336" cy="402336"/>
          </a:xfrm>
          <a:prstGeom prst="ellipse">
            <a:avLst/>
          </a:prstGeom>
          <a:solidFill>
            <a:srgbClr val="1E3A5F"/>
          </a:solidFill>
          <a:ln/>
        </p:spPr>
        <p:txBody>
          <a:bodyPr/>
          <a:lstStyle/>
          <a:p>
            <a:endParaRPr lang="en-IN"/>
          </a:p>
        </p:txBody>
      </p:sp>
      <p:sp>
        <p:nvSpPr>
          <p:cNvPr id="16" name="Text 13"/>
          <p:cNvSpPr/>
          <p:nvPr/>
        </p:nvSpPr>
        <p:spPr>
          <a:xfrm>
            <a:off x="2711196" y="2084832"/>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Shape 14"/>
          <p:cNvSpPr/>
          <p:nvPr/>
        </p:nvSpPr>
        <p:spPr>
          <a:xfrm>
            <a:off x="2157984" y="2587752"/>
            <a:ext cx="150876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8" name="Shape 15"/>
          <p:cNvSpPr/>
          <p:nvPr/>
        </p:nvSpPr>
        <p:spPr>
          <a:xfrm>
            <a:off x="2157984" y="2587752"/>
            <a:ext cx="1508760" cy="54864"/>
          </a:xfrm>
          <a:prstGeom prst="rect">
            <a:avLst/>
          </a:prstGeom>
          <a:solidFill>
            <a:srgbClr val="148F77"/>
          </a:solidFill>
          <a:ln/>
        </p:spPr>
        <p:txBody>
          <a:bodyPr/>
          <a:lstStyle/>
          <a:p>
            <a:endParaRPr lang="en-IN"/>
          </a:p>
        </p:txBody>
      </p:sp>
      <p:sp>
        <p:nvSpPr>
          <p:cNvPr id="19" name="Text 16"/>
          <p:cNvSpPr/>
          <p:nvPr/>
        </p:nvSpPr>
        <p:spPr>
          <a:xfrm>
            <a:off x="2231136" y="2697480"/>
            <a:ext cx="1362456" cy="640080"/>
          </a:xfrm>
          <a:prstGeom prst="rect">
            <a:avLst/>
          </a:prstGeom>
          <a:noFill/>
          <a:ln/>
        </p:spPr>
        <p:txBody>
          <a:bodyPr wrap="square" lIns="0" tIns="0" rIns="0" bIns="0" rtlCol="0" anchor="t"/>
          <a:lstStyle/>
          <a:p>
            <a:pPr marL="0" indent="0" algn="ctr">
              <a:buNone/>
            </a:pPr>
            <a:r>
              <a:rPr lang="en-US" sz="1100" b="1" dirty="0">
                <a:solidFill>
                  <a:srgbClr val="1E3A5F"/>
                </a:solidFill>
                <a:latin typeface="Calibri" pitchFamily="34" charset="0"/>
                <a:ea typeface="Calibri" pitchFamily="34" charset="-122"/>
                <a:cs typeface="Calibri" pitchFamily="34" charset="-120"/>
              </a:rPr>
              <a:t>Data Collection</a:t>
            </a:r>
            <a:endParaRPr lang="en-US" sz="1100" dirty="0"/>
          </a:p>
          <a:p>
            <a:pPr marL="0" indent="0" algn="ctr">
              <a:buNone/>
            </a:pPr>
            <a:r>
              <a:rPr lang="en-US" sz="1100" b="1" dirty="0">
                <a:solidFill>
                  <a:srgbClr val="1E3A5F"/>
                </a:solidFill>
                <a:latin typeface="Calibri" pitchFamily="34" charset="0"/>
                <a:ea typeface="Calibri" pitchFamily="34" charset="-122"/>
                <a:cs typeface="Calibri" pitchFamily="34" charset="-120"/>
              </a:rPr>
              <a:t>&amp; Preprocessing</a:t>
            </a:r>
            <a:endParaRPr lang="en-US" sz="1100" dirty="0"/>
          </a:p>
        </p:txBody>
      </p:sp>
      <p:sp>
        <p:nvSpPr>
          <p:cNvPr id="20" name="Text 17"/>
          <p:cNvSpPr/>
          <p:nvPr/>
        </p:nvSpPr>
        <p:spPr>
          <a:xfrm>
            <a:off x="2231136" y="3319272"/>
            <a:ext cx="1362456" cy="731520"/>
          </a:xfrm>
          <a:prstGeom prst="rect">
            <a:avLst/>
          </a:prstGeom>
          <a:noFill/>
          <a:ln/>
        </p:spPr>
        <p:txBody>
          <a:bodyPr wrap="square" lIns="0" tIns="0" rIns="0" bIns="0" rtlCol="0" anchor="t"/>
          <a:lstStyle/>
          <a:p>
            <a:pPr marL="0" indent="0" algn="ctr">
              <a:buNone/>
            </a:pPr>
            <a:r>
              <a:rPr lang="en-US" sz="950" dirty="0">
                <a:solidFill>
                  <a:srgbClr val="5D6D7E"/>
                </a:solidFill>
                <a:latin typeface="Calibri" pitchFamily="34" charset="0"/>
                <a:ea typeface="Calibri" pitchFamily="34" charset="-122"/>
                <a:cs typeface="Calibri" pitchFamily="34" charset="-120"/>
              </a:rPr>
              <a:t>Gather datasets,</a:t>
            </a:r>
            <a:endParaRPr lang="en-US" sz="950" dirty="0"/>
          </a:p>
          <a:p>
            <a:pPr marL="0" indent="0" algn="ctr">
              <a:buNone/>
            </a:pPr>
            <a:r>
              <a:rPr lang="en-US" sz="950" dirty="0">
                <a:solidFill>
                  <a:srgbClr val="5D6D7E"/>
                </a:solidFill>
                <a:latin typeface="Calibri" pitchFamily="34" charset="0"/>
                <a:ea typeface="Calibri" pitchFamily="34" charset="-122"/>
                <a:cs typeface="Calibri" pitchFamily="34" charset="-120"/>
              </a:rPr>
              <a:t>clean &amp; augment</a:t>
            </a:r>
            <a:endParaRPr lang="en-US" sz="950" dirty="0"/>
          </a:p>
        </p:txBody>
      </p:sp>
      <p:pic>
        <p:nvPicPr>
          <p:cNvPr id="21" name="Image 1" descr="preencoded.png"/>
          <p:cNvPicPr>
            <a:picLocks noChangeAspect="1"/>
          </p:cNvPicPr>
          <p:nvPr/>
        </p:nvPicPr>
        <p:blipFill>
          <a:blip r:embed="rId3"/>
          <a:stretch>
            <a:fillRect/>
          </a:stretch>
        </p:blipFill>
        <p:spPr>
          <a:xfrm>
            <a:off x="3685032" y="3182112"/>
            <a:ext cx="128016" cy="128016"/>
          </a:xfrm>
          <a:prstGeom prst="rect">
            <a:avLst/>
          </a:prstGeom>
        </p:spPr>
      </p:pic>
      <p:sp>
        <p:nvSpPr>
          <p:cNvPr id="22" name="Shape 18"/>
          <p:cNvSpPr/>
          <p:nvPr/>
        </p:nvSpPr>
        <p:spPr>
          <a:xfrm>
            <a:off x="4384548" y="2084832"/>
            <a:ext cx="402336" cy="402336"/>
          </a:xfrm>
          <a:prstGeom prst="ellipse">
            <a:avLst/>
          </a:prstGeom>
          <a:solidFill>
            <a:srgbClr val="1E3A5F"/>
          </a:solidFill>
          <a:ln/>
        </p:spPr>
        <p:txBody>
          <a:bodyPr/>
          <a:lstStyle/>
          <a:p>
            <a:endParaRPr lang="en-IN"/>
          </a:p>
        </p:txBody>
      </p:sp>
      <p:sp>
        <p:nvSpPr>
          <p:cNvPr id="23" name="Text 19"/>
          <p:cNvSpPr/>
          <p:nvPr/>
        </p:nvSpPr>
        <p:spPr>
          <a:xfrm>
            <a:off x="4384548" y="2084832"/>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Shape 20"/>
          <p:cNvSpPr/>
          <p:nvPr/>
        </p:nvSpPr>
        <p:spPr>
          <a:xfrm>
            <a:off x="3831336" y="2587752"/>
            <a:ext cx="150876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5" name="Shape 21"/>
          <p:cNvSpPr/>
          <p:nvPr/>
        </p:nvSpPr>
        <p:spPr>
          <a:xfrm>
            <a:off x="3831336" y="2587752"/>
            <a:ext cx="1508760" cy="54864"/>
          </a:xfrm>
          <a:prstGeom prst="rect">
            <a:avLst/>
          </a:prstGeom>
          <a:solidFill>
            <a:srgbClr val="148F77"/>
          </a:solidFill>
          <a:ln/>
        </p:spPr>
        <p:txBody>
          <a:bodyPr/>
          <a:lstStyle/>
          <a:p>
            <a:endParaRPr lang="en-IN"/>
          </a:p>
        </p:txBody>
      </p:sp>
      <p:sp>
        <p:nvSpPr>
          <p:cNvPr id="26" name="Text 22"/>
          <p:cNvSpPr/>
          <p:nvPr/>
        </p:nvSpPr>
        <p:spPr>
          <a:xfrm>
            <a:off x="3904488" y="2697480"/>
            <a:ext cx="1362456" cy="640080"/>
          </a:xfrm>
          <a:prstGeom prst="rect">
            <a:avLst/>
          </a:prstGeom>
          <a:noFill/>
          <a:ln/>
        </p:spPr>
        <p:txBody>
          <a:bodyPr wrap="square" lIns="0" tIns="0" rIns="0" bIns="0" rtlCol="0" anchor="t"/>
          <a:lstStyle/>
          <a:p>
            <a:pPr marL="0" indent="0" algn="ctr">
              <a:buNone/>
            </a:pPr>
            <a:r>
              <a:rPr lang="en-US" sz="1100" b="1" dirty="0">
                <a:solidFill>
                  <a:srgbClr val="1E3A5F"/>
                </a:solidFill>
                <a:latin typeface="Calibri" pitchFamily="34" charset="0"/>
                <a:ea typeface="Calibri" pitchFamily="34" charset="-122"/>
                <a:cs typeface="Calibri" pitchFamily="34" charset="-120"/>
              </a:rPr>
              <a:t>Model Design</a:t>
            </a:r>
            <a:endParaRPr lang="en-US" sz="1100" dirty="0"/>
          </a:p>
          <a:p>
            <a:pPr marL="0" indent="0" algn="ctr">
              <a:buNone/>
            </a:pPr>
            <a:r>
              <a:rPr lang="en-US" sz="1100" b="1" dirty="0">
                <a:solidFill>
                  <a:srgbClr val="1E3A5F"/>
                </a:solidFill>
                <a:latin typeface="Calibri" pitchFamily="34" charset="0"/>
                <a:ea typeface="Calibri" pitchFamily="34" charset="-122"/>
                <a:cs typeface="Calibri" pitchFamily="34" charset="-120"/>
              </a:rPr>
              <a:t>&amp; Training</a:t>
            </a:r>
            <a:endParaRPr lang="en-US" sz="1100" dirty="0"/>
          </a:p>
        </p:txBody>
      </p:sp>
      <p:sp>
        <p:nvSpPr>
          <p:cNvPr id="27" name="Text 23"/>
          <p:cNvSpPr/>
          <p:nvPr/>
        </p:nvSpPr>
        <p:spPr>
          <a:xfrm>
            <a:off x="3904488" y="3319272"/>
            <a:ext cx="1362456" cy="731520"/>
          </a:xfrm>
          <a:prstGeom prst="rect">
            <a:avLst/>
          </a:prstGeom>
          <a:noFill/>
          <a:ln/>
        </p:spPr>
        <p:txBody>
          <a:bodyPr wrap="square" lIns="0" tIns="0" rIns="0" bIns="0" rtlCol="0" anchor="t"/>
          <a:lstStyle/>
          <a:p>
            <a:pPr marL="0" indent="0" algn="ctr">
              <a:buNone/>
            </a:pPr>
            <a:r>
              <a:rPr lang="en-US" sz="950" dirty="0">
                <a:solidFill>
                  <a:srgbClr val="5D6D7E"/>
                </a:solidFill>
                <a:latin typeface="Calibri" pitchFamily="34" charset="0"/>
                <a:ea typeface="Calibri" pitchFamily="34" charset="-122"/>
                <a:cs typeface="Calibri" pitchFamily="34" charset="-120"/>
              </a:rPr>
              <a:t>Implement CNN +</a:t>
            </a:r>
            <a:endParaRPr lang="en-US" sz="950" dirty="0"/>
          </a:p>
          <a:p>
            <a:pPr marL="0" indent="0" algn="ctr">
              <a:buNone/>
            </a:pPr>
            <a:r>
              <a:rPr lang="en-US" sz="950" dirty="0">
                <a:solidFill>
                  <a:srgbClr val="5D6D7E"/>
                </a:solidFill>
                <a:latin typeface="Calibri" pitchFamily="34" charset="0"/>
                <a:ea typeface="Calibri" pitchFamily="34" charset="-122"/>
                <a:cs typeface="Calibri" pitchFamily="34" charset="-120"/>
              </a:rPr>
              <a:t>BiLSTM hybrid</a:t>
            </a:r>
            <a:endParaRPr lang="en-US" sz="950" dirty="0"/>
          </a:p>
        </p:txBody>
      </p:sp>
      <p:pic>
        <p:nvPicPr>
          <p:cNvPr id="28" name="Image 2" descr="preencoded.png"/>
          <p:cNvPicPr>
            <a:picLocks noChangeAspect="1"/>
          </p:cNvPicPr>
          <p:nvPr/>
        </p:nvPicPr>
        <p:blipFill>
          <a:blip r:embed="rId3"/>
          <a:stretch>
            <a:fillRect/>
          </a:stretch>
        </p:blipFill>
        <p:spPr>
          <a:xfrm>
            <a:off x="5358384" y="3182112"/>
            <a:ext cx="128016" cy="128016"/>
          </a:xfrm>
          <a:prstGeom prst="rect">
            <a:avLst/>
          </a:prstGeom>
        </p:spPr>
      </p:pic>
      <p:sp>
        <p:nvSpPr>
          <p:cNvPr id="29" name="Shape 24"/>
          <p:cNvSpPr/>
          <p:nvPr/>
        </p:nvSpPr>
        <p:spPr>
          <a:xfrm>
            <a:off x="6057900" y="2084832"/>
            <a:ext cx="402336" cy="402336"/>
          </a:xfrm>
          <a:prstGeom prst="ellipse">
            <a:avLst/>
          </a:prstGeom>
          <a:solidFill>
            <a:srgbClr val="1E3A5F"/>
          </a:solidFill>
          <a:ln/>
        </p:spPr>
        <p:txBody>
          <a:bodyPr/>
          <a:lstStyle/>
          <a:p>
            <a:endParaRPr lang="en-IN"/>
          </a:p>
        </p:txBody>
      </p:sp>
      <p:sp>
        <p:nvSpPr>
          <p:cNvPr id="30" name="Text 25"/>
          <p:cNvSpPr/>
          <p:nvPr/>
        </p:nvSpPr>
        <p:spPr>
          <a:xfrm>
            <a:off x="6057900" y="2084832"/>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1" name="Shape 26"/>
          <p:cNvSpPr/>
          <p:nvPr/>
        </p:nvSpPr>
        <p:spPr>
          <a:xfrm>
            <a:off x="5504688" y="2587752"/>
            <a:ext cx="150876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32" name="Shape 27"/>
          <p:cNvSpPr/>
          <p:nvPr/>
        </p:nvSpPr>
        <p:spPr>
          <a:xfrm>
            <a:off x="5504688" y="2587752"/>
            <a:ext cx="1508760" cy="54864"/>
          </a:xfrm>
          <a:prstGeom prst="rect">
            <a:avLst/>
          </a:prstGeom>
          <a:solidFill>
            <a:srgbClr val="148F77"/>
          </a:solidFill>
          <a:ln/>
        </p:spPr>
        <p:txBody>
          <a:bodyPr/>
          <a:lstStyle/>
          <a:p>
            <a:endParaRPr lang="en-IN"/>
          </a:p>
        </p:txBody>
      </p:sp>
      <p:sp>
        <p:nvSpPr>
          <p:cNvPr id="33" name="Text 28"/>
          <p:cNvSpPr/>
          <p:nvPr/>
        </p:nvSpPr>
        <p:spPr>
          <a:xfrm>
            <a:off x="5577840" y="2697480"/>
            <a:ext cx="1362456" cy="640080"/>
          </a:xfrm>
          <a:prstGeom prst="rect">
            <a:avLst/>
          </a:prstGeom>
          <a:noFill/>
          <a:ln/>
        </p:spPr>
        <p:txBody>
          <a:bodyPr wrap="square" lIns="0" tIns="0" rIns="0" bIns="0" rtlCol="0" anchor="t"/>
          <a:lstStyle/>
          <a:p>
            <a:pPr marL="0" indent="0" algn="ctr">
              <a:buNone/>
            </a:pPr>
            <a:r>
              <a:rPr lang="en-US" sz="1100" b="1" dirty="0">
                <a:solidFill>
                  <a:srgbClr val="1E3A5F"/>
                </a:solidFill>
                <a:latin typeface="Calibri" pitchFamily="34" charset="0"/>
                <a:ea typeface="Calibri" pitchFamily="34" charset="-122"/>
                <a:cs typeface="Calibri" pitchFamily="34" charset="-120"/>
              </a:rPr>
              <a:t>Testing &amp;</a:t>
            </a:r>
            <a:endParaRPr lang="en-US" sz="1100" dirty="0"/>
          </a:p>
          <a:p>
            <a:pPr marL="0" indent="0" algn="ctr">
              <a:buNone/>
            </a:pPr>
            <a:r>
              <a:rPr lang="en-US" sz="1100" b="1" dirty="0">
                <a:solidFill>
                  <a:srgbClr val="1E3A5F"/>
                </a:solidFill>
                <a:latin typeface="Calibri" pitchFamily="34" charset="0"/>
                <a:ea typeface="Calibri" pitchFamily="34" charset="-122"/>
                <a:cs typeface="Calibri" pitchFamily="34" charset="-120"/>
              </a:rPr>
              <a:t>Evaluation</a:t>
            </a:r>
            <a:endParaRPr lang="en-US" sz="1100" dirty="0"/>
          </a:p>
        </p:txBody>
      </p:sp>
      <p:sp>
        <p:nvSpPr>
          <p:cNvPr id="34" name="Text 29"/>
          <p:cNvSpPr/>
          <p:nvPr/>
        </p:nvSpPr>
        <p:spPr>
          <a:xfrm>
            <a:off x="5577840" y="3319272"/>
            <a:ext cx="1362456" cy="731520"/>
          </a:xfrm>
          <a:prstGeom prst="rect">
            <a:avLst/>
          </a:prstGeom>
          <a:noFill/>
          <a:ln/>
        </p:spPr>
        <p:txBody>
          <a:bodyPr wrap="square" lIns="0" tIns="0" rIns="0" bIns="0" rtlCol="0" anchor="t"/>
          <a:lstStyle/>
          <a:p>
            <a:pPr marL="0" indent="0" algn="ctr">
              <a:buNone/>
            </a:pPr>
            <a:r>
              <a:rPr lang="en-US" sz="950" dirty="0">
                <a:solidFill>
                  <a:srgbClr val="5D6D7E"/>
                </a:solidFill>
                <a:latin typeface="Calibri" pitchFamily="34" charset="0"/>
                <a:ea typeface="Calibri" pitchFamily="34" charset="-122"/>
                <a:cs typeface="Calibri" pitchFamily="34" charset="-120"/>
              </a:rPr>
              <a:t>Validate on benchmark</a:t>
            </a:r>
            <a:endParaRPr lang="en-US" sz="950" dirty="0"/>
          </a:p>
          <a:p>
            <a:pPr marL="0" indent="0" algn="ctr">
              <a:buNone/>
            </a:pPr>
            <a:r>
              <a:rPr lang="en-US" sz="950" dirty="0">
                <a:solidFill>
                  <a:srgbClr val="5D6D7E"/>
                </a:solidFill>
                <a:latin typeface="Calibri" pitchFamily="34" charset="0"/>
                <a:ea typeface="Calibri" pitchFamily="34" charset="-122"/>
                <a:cs typeface="Calibri" pitchFamily="34" charset="-120"/>
              </a:rPr>
              <a:t>datasets</a:t>
            </a:r>
            <a:endParaRPr lang="en-US" sz="950" dirty="0"/>
          </a:p>
        </p:txBody>
      </p:sp>
      <p:pic>
        <p:nvPicPr>
          <p:cNvPr id="35" name="Image 3" descr="preencoded.png"/>
          <p:cNvPicPr>
            <a:picLocks noChangeAspect="1"/>
          </p:cNvPicPr>
          <p:nvPr/>
        </p:nvPicPr>
        <p:blipFill>
          <a:blip r:embed="rId3"/>
          <a:stretch>
            <a:fillRect/>
          </a:stretch>
        </p:blipFill>
        <p:spPr>
          <a:xfrm>
            <a:off x="7031736" y="3182112"/>
            <a:ext cx="128016" cy="128016"/>
          </a:xfrm>
          <a:prstGeom prst="rect">
            <a:avLst/>
          </a:prstGeom>
        </p:spPr>
      </p:pic>
      <p:sp>
        <p:nvSpPr>
          <p:cNvPr id="36" name="Shape 30"/>
          <p:cNvSpPr/>
          <p:nvPr/>
        </p:nvSpPr>
        <p:spPr>
          <a:xfrm>
            <a:off x="7731252" y="2084832"/>
            <a:ext cx="402336" cy="402336"/>
          </a:xfrm>
          <a:prstGeom prst="ellipse">
            <a:avLst/>
          </a:prstGeom>
          <a:solidFill>
            <a:srgbClr val="1E3A5F"/>
          </a:solidFill>
          <a:ln/>
        </p:spPr>
        <p:txBody>
          <a:bodyPr/>
          <a:lstStyle/>
          <a:p>
            <a:endParaRPr lang="en-IN"/>
          </a:p>
        </p:txBody>
      </p:sp>
      <p:sp>
        <p:nvSpPr>
          <p:cNvPr id="37" name="Text 31"/>
          <p:cNvSpPr/>
          <p:nvPr/>
        </p:nvSpPr>
        <p:spPr>
          <a:xfrm>
            <a:off x="7731252" y="2084832"/>
            <a:ext cx="402336"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8" name="Shape 32"/>
          <p:cNvSpPr/>
          <p:nvPr/>
        </p:nvSpPr>
        <p:spPr>
          <a:xfrm>
            <a:off x="7178040" y="2587752"/>
            <a:ext cx="150876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39" name="Shape 33"/>
          <p:cNvSpPr/>
          <p:nvPr/>
        </p:nvSpPr>
        <p:spPr>
          <a:xfrm>
            <a:off x="7178040" y="2587752"/>
            <a:ext cx="1508760" cy="54864"/>
          </a:xfrm>
          <a:prstGeom prst="rect">
            <a:avLst/>
          </a:prstGeom>
          <a:solidFill>
            <a:srgbClr val="148F77"/>
          </a:solidFill>
          <a:ln/>
        </p:spPr>
        <p:txBody>
          <a:bodyPr/>
          <a:lstStyle/>
          <a:p>
            <a:endParaRPr lang="en-IN"/>
          </a:p>
        </p:txBody>
      </p:sp>
      <p:sp>
        <p:nvSpPr>
          <p:cNvPr id="40" name="Text 34"/>
          <p:cNvSpPr/>
          <p:nvPr/>
        </p:nvSpPr>
        <p:spPr>
          <a:xfrm>
            <a:off x="7251192" y="2697480"/>
            <a:ext cx="1362456" cy="640080"/>
          </a:xfrm>
          <a:prstGeom prst="rect">
            <a:avLst/>
          </a:prstGeom>
          <a:noFill/>
          <a:ln/>
        </p:spPr>
        <p:txBody>
          <a:bodyPr wrap="square" lIns="0" tIns="0" rIns="0" bIns="0" rtlCol="0" anchor="t"/>
          <a:lstStyle/>
          <a:p>
            <a:pPr marL="0" indent="0" algn="ctr">
              <a:buNone/>
            </a:pPr>
            <a:r>
              <a:rPr lang="en-US" sz="1100" b="1" dirty="0">
                <a:solidFill>
                  <a:srgbClr val="1E3A5F"/>
                </a:solidFill>
                <a:latin typeface="Calibri" pitchFamily="34" charset="0"/>
                <a:ea typeface="Calibri" pitchFamily="34" charset="-122"/>
                <a:cs typeface="Calibri" pitchFamily="34" charset="-120"/>
              </a:rPr>
              <a:t>Deployment</a:t>
            </a:r>
            <a:endParaRPr lang="en-US" sz="1100" dirty="0"/>
          </a:p>
          <a:p>
            <a:pPr marL="0" indent="0" algn="ctr">
              <a:buNone/>
            </a:pPr>
            <a:r>
              <a:rPr lang="en-US" sz="1100" b="1" dirty="0">
                <a:solidFill>
                  <a:srgbClr val="1E3A5F"/>
                </a:solidFill>
                <a:latin typeface="Calibri" pitchFamily="34" charset="0"/>
                <a:ea typeface="Calibri" pitchFamily="34" charset="-122"/>
                <a:cs typeface="Calibri" pitchFamily="34" charset="-120"/>
              </a:rPr>
              <a:t>&amp; Reporting</a:t>
            </a:r>
            <a:endParaRPr lang="en-US" sz="1100" dirty="0"/>
          </a:p>
        </p:txBody>
      </p:sp>
      <p:sp>
        <p:nvSpPr>
          <p:cNvPr id="41" name="Text 35"/>
          <p:cNvSpPr/>
          <p:nvPr/>
        </p:nvSpPr>
        <p:spPr>
          <a:xfrm>
            <a:off x="7251192" y="3319272"/>
            <a:ext cx="1362456" cy="731520"/>
          </a:xfrm>
          <a:prstGeom prst="rect">
            <a:avLst/>
          </a:prstGeom>
          <a:noFill/>
          <a:ln/>
        </p:spPr>
        <p:txBody>
          <a:bodyPr wrap="square" lIns="0" tIns="0" rIns="0" bIns="0" rtlCol="0" anchor="t"/>
          <a:lstStyle/>
          <a:p>
            <a:pPr marL="0" indent="0" algn="ctr">
              <a:buNone/>
            </a:pPr>
            <a:r>
              <a:rPr lang="en-US" sz="950" dirty="0">
                <a:solidFill>
                  <a:srgbClr val="5D6D7E"/>
                </a:solidFill>
                <a:latin typeface="Calibri" pitchFamily="34" charset="0"/>
                <a:ea typeface="Calibri" pitchFamily="34" charset="-122"/>
                <a:cs typeface="Calibri" pitchFamily="34" charset="-120"/>
              </a:rPr>
              <a:t>Finalize model,</a:t>
            </a:r>
            <a:endParaRPr lang="en-US" sz="950" dirty="0"/>
          </a:p>
          <a:p>
            <a:pPr marL="0" indent="0" algn="ctr">
              <a:buNone/>
            </a:pPr>
            <a:r>
              <a:rPr lang="en-US" sz="950" dirty="0">
                <a:solidFill>
                  <a:srgbClr val="5D6D7E"/>
                </a:solidFill>
                <a:latin typeface="Calibri" pitchFamily="34" charset="0"/>
                <a:ea typeface="Calibri" pitchFamily="34" charset="-122"/>
                <a:cs typeface="Calibri" pitchFamily="34" charset="-120"/>
              </a:rPr>
              <a:t>prepare reports</a:t>
            </a:r>
            <a:endParaRPr lang="en-US" sz="950" dirty="0"/>
          </a:p>
        </p:txBody>
      </p:sp>
      <p:sp>
        <p:nvSpPr>
          <p:cNvPr id="42" name="Text 36"/>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43" name="Text 37"/>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77724"/>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PROCESS MODEL – KEY ACTIVITIES</a:t>
            </a:r>
            <a:endParaRPr lang="en-US" sz="2000" dirty="0"/>
          </a:p>
        </p:txBody>
      </p:sp>
      <p:sp>
        <p:nvSpPr>
          <p:cNvPr id="3" name="Shape 1"/>
          <p:cNvSpPr/>
          <p:nvPr/>
        </p:nvSpPr>
        <p:spPr>
          <a:xfrm>
            <a:off x="2743200" y="447472"/>
            <a:ext cx="3657600" cy="0"/>
          </a:xfrm>
          <a:prstGeom prst="line">
            <a:avLst/>
          </a:prstGeom>
          <a:noFill/>
          <a:ln w="25400">
            <a:solidFill>
              <a:srgbClr val="C0392B"/>
            </a:solidFill>
            <a:prstDash val="solid"/>
          </a:ln>
        </p:spPr>
        <p:txBody>
          <a:bodyPr/>
          <a:lstStyle/>
          <a:p>
            <a:endParaRPr lang="en-IN"/>
          </a:p>
        </p:txBody>
      </p:sp>
      <p:sp>
        <p:nvSpPr>
          <p:cNvPr id="4" name="Shape 2"/>
          <p:cNvSpPr/>
          <p:nvPr/>
        </p:nvSpPr>
        <p:spPr>
          <a:xfrm>
            <a:off x="521208" y="806958"/>
            <a:ext cx="8229600" cy="65836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521208" y="806958"/>
            <a:ext cx="64008" cy="658368"/>
          </a:xfrm>
          <a:prstGeom prst="rect">
            <a:avLst/>
          </a:prstGeom>
          <a:solidFill>
            <a:srgbClr val="1E3A5F"/>
          </a:solidFill>
          <a:ln/>
        </p:spPr>
        <p:txBody>
          <a:bodyPr/>
          <a:lstStyle/>
          <a:p>
            <a:endParaRPr lang="en-IN"/>
          </a:p>
        </p:txBody>
      </p:sp>
      <p:sp>
        <p:nvSpPr>
          <p:cNvPr id="6" name="Text 4"/>
          <p:cNvSpPr/>
          <p:nvPr/>
        </p:nvSpPr>
        <p:spPr>
          <a:xfrm>
            <a:off x="749808" y="834390"/>
            <a:ext cx="2286000" cy="60350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Requirement Analysis</a:t>
            </a:r>
            <a:endParaRPr lang="en-US" sz="1200" dirty="0"/>
          </a:p>
        </p:txBody>
      </p:sp>
      <p:sp>
        <p:nvSpPr>
          <p:cNvPr id="7" name="Text 5"/>
          <p:cNvSpPr/>
          <p:nvPr/>
        </p:nvSpPr>
        <p:spPr>
          <a:xfrm>
            <a:off x="3081528" y="834390"/>
            <a:ext cx="5486400" cy="60350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Study existing deepfake detection techniques, identify limitations in current systems, and define project objectives and scope.</a:t>
            </a:r>
            <a:endParaRPr lang="en-US" sz="1050" dirty="0"/>
          </a:p>
        </p:txBody>
      </p:sp>
      <p:sp>
        <p:nvSpPr>
          <p:cNvPr id="8" name="Shape 6"/>
          <p:cNvSpPr/>
          <p:nvPr/>
        </p:nvSpPr>
        <p:spPr>
          <a:xfrm>
            <a:off x="521208" y="1556766"/>
            <a:ext cx="8229600" cy="65836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521208" y="1556766"/>
            <a:ext cx="64008" cy="658368"/>
          </a:xfrm>
          <a:prstGeom prst="rect">
            <a:avLst/>
          </a:prstGeom>
          <a:solidFill>
            <a:srgbClr val="148F77"/>
          </a:solidFill>
          <a:ln/>
        </p:spPr>
        <p:txBody>
          <a:bodyPr/>
          <a:lstStyle/>
          <a:p>
            <a:endParaRPr lang="en-IN"/>
          </a:p>
        </p:txBody>
      </p:sp>
      <p:sp>
        <p:nvSpPr>
          <p:cNvPr id="10" name="Text 8"/>
          <p:cNvSpPr/>
          <p:nvPr/>
        </p:nvSpPr>
        <p:spPr>
          <a:xfrm>
            <a:off x="749808" y="1584198"/>
            <a:ext cx="2286000" cy="60350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Data Collection &amp; Preprocessing</a:t>
            </a:r>
            <a:endParaRPr lang="en-US" sz="1200" dirty="0"/>
          </a:p>
        </p:txBody>
      </p:sp>
      <p:sp>
        <p:nvSpPr>
          <p:cNvPr id="11" name="Text 9"/>
          <p:cNvSpPr/>
          <p:nvPr/>
        </p:nvSpPr>
        <p:spPr>
          <a:xfrm>
            <a:off x="3081528" y="1584198"/>
            <a:ext cx="5486400" cy="60350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Collect benchmark datasets (FaceForensics++, DFDC, Celeb-DF). Perform face detection, cropping, resizing (224x224), normalization, and augmentation.</a:t>
            </a:r>
            <a:endParaRPr lang="en-US" sz="1050" dirty="0"/>
          </a:p>
        </p:txBody>
      </p:sp>
      <p:sp>
        <p:nvSpPr>
          <p:cNvPr id="12" name="Shape 10"/>
          <p:cNvSpPr/>
          <p:nvPr/>
        </p:nvSpPr>
        <p:spPr>
          <a:xfrm>
            <a:off x="521208" y="2306574"/>
            <a:ext cx="8229600" cy="65836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11"/>
          <p:cNvSpPr/>
          <p:nvPr/>
        </p:nvSpPr>
        <p:spPr>
          <a:xfrm>
            <a:off x="521208" y="2306574"/>
            <a:ext cx="64008" cy="658368"/>
          </a:xfrm>
          <a:prstGeom prst="rect">
            <a:avLst/>
          </a:prstGeom>
          <a:solidFill>
            <a:srgbClr val="1E3A5F"/>
          </a:solidFill>
          <a:ln/>
        </p:spPr>
        <p:txBody>
          <a:bodyPr/>
          <a:lstStyle/>
          <a:p>
            <a:endParaRPr lang="en-IN"/>
          </a:p>
        </p:txBody>
      </p:sp>
      <p:sp>
        <p:nvSpPr>
          <p:cNvPr id="14" name="Text 12"/>
          <p:cNvSpPr/>
          <p:nvPr/>
        </p:nvSpPr>
        <p:spPr>
          <a:xfrm>
            <a:off x="749808" y="2334006"/>
            <a:ext cx="2286000" cy="60350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Model Design &amp; Training</a:t>
            </a:r>
            <a:endParaRPr lang="en-US" sz="1200" dirty="0"/>
          </a:p>
        </p:txBody>
      </p:sp>
      <p:sp>
        <p:nvSpPr>
          <p:cNvPr id="15" name="Text 13"/>
          <p:cNvSpPr/>
          <p:nvPr/>
        </p:nvSpPr>
        <p:spPr>
          <a:xfrm>
            <a:off x="3081528" y="2334006"/>
            <a:ext cx="5486400" cy="60350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Implement ResNeXt for spatial feature extraction and BiLSTM for temporal analysis. Train using Adam optimizer with cross-entropy loss and GPU acceleration.</a:t>
            </a:r>
            <a:endParaRPr lang="en-US" sz="1050" dirty="0"/>
          </a:p>
        </p:txBody>
      </p:sp>
      <p:sp>
        <p:nvSpPr>
          <p:cNvPr id="16" name="Shape 14"/>
          <p:cNvSpPr/>
          <p:nvPr/>
        </p:nvSpPr>
        <p:spPr>
          <a:xfrm>
            <a:off x="521208" y="3056382"/>
            <a:ext cx="8229600" cy="65836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521208" y="3056382"/>
            <a:ext cx="64008" cy="658368"/>
          </a:xfrm>
          <a:prstGeom prst="rect">
            <a:avLst/>
          </a:prstGeom>
          <a:solidFill>
            <a:srgbClr val="148F77"/>
          </a:solidFill>
          <a:ln/>
        </p:spPr>
        <p:txBody>
          <a:bodyPr/>
          <a:lstStyle/>
          <a:p>
            <a:endParaRPr lang="en-IN"/>
          </a:p>
        </p:txBody>
      </p:sp>
      <p:sp>
        <p:nvSpPr>
          <p:cNvPr id="18" name="Text 16"/>
          <p:cNvSpPr/>
          <p:nvPr/>
        </p:nvSpPr>
        <p:spPr>
          <a:xfrm>
            <a:off x="749808" y="3083814"/>
            <a:ext cx="2286000" cy="60350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Testing &amp; Evaluation</a:t>
            </a:r>
            <a:endParaRPr lang="en-US" sz="1200" dirty="0"/>
          </a:p>
        </p:txBody>
      </p:sp>
      <p:sp>
        <p:nvSpPr>
          <p:cNvPr id="19" name="Text 17"/>
          <p:cNvSpPr/>
          <p:nvPr/>
        </p:nvSpPr>
        <p:spPr>
          <a:xfrm>
            <a:off x="3081528" y="3083814"/>
            <a:ext cx="5486400" cy="60350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Evaluate using accuracy, precision, recall, F1-score, and AUC. Generate confusion matrices and compare with existing methods.</a:t>
            </a:r>
            <a:endParaRPr lang="en-US" sz="1050" dirty="0"/>
          </a:p>
        </p:txBody>
      </p:sp>
      <p:sp>
        <p:nvSpPr>
          <p:cNvPr id="20" name="Shape 18"/>
          <p:cNvSpPr/>
          <p:nvPr/>
        </p:nvSpPr>
        <p:spPr>
          <a:xfrm>
            <a:off x="521208" y="3806190"/>
            <a:ext cx="8229600" cy="65836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1" name="Shape 19"/>
          <p:cNvSpPr/>
          <p:nvPr/>
        </p:nvSpPr>
        <p:spPr>
          <a:xfrm>
            <a:off x="521208" y="3806190"/>
            <a:ext cx="64008" cy="658368"/>
          </a:xfrm>
          <a:prstGeom prst="rect">
            <a:avLst/>
          </a:prstGeom>
          <a:solidFill>
            <a:srgbClr val="1E3A5F"/>
          </a:solidFill>
          <a:ln/>
        </p:spPr>
        <p:txBody>
          <a:bodyPr/>
          <a:lstStyle/>
          <a:p>
            <a:endParaRPr lang="en-IN"/>
          </a:p>
        </p:txBody>
      </p:sp>
      <p:sp>
        <p:nvSpPr>
          <p:cNvPr id="22" name="Text 20"/>
          <p:cNvSpPr/>
          <p:nvPr/>
        </p:nvSpPr>
        <p:spPr>
          <a:xfrm>
            <a:off x="749808" y="3833622"/>
            <a:ext cx="2286000" cy="60350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Deployment &amp; Reporting</a:t>
            </a:r>
            <a:endParaRPr lang="en-US" sz="1200" dirty="0"/>
          </a:p>
        </p:txBody>
      </p:sp>
      <p:sp>
        <p:nvSpPr>
          <p:cNvPr id="23" name="Text 21"/>
          <p:cNvSpPr/>
          <p:nvPr/>
        </p:nvSpPr>
        <p:spPr>
          <a:xfrm>
            <a:off x="3081528" y="3833622"/>
            <a:ext cx="5486400" cy="60350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Convert model to deployable format, prepare documentation, conduct final validation, and present results.</a:t>
            </a:r>
            <a:endParaRPr lang="en-US" sz="1050" dirty="0"/>
          </a:p>
        </p:txBody>
      </p:sp>
      <p:sp>
        <p:nvSpPr>
          <p:cNvPr id="24" name="Text 22"/>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5" name="Text 23"/>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9144"/>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MATHEMATICAL MODEL</a:t>
            </a:r>
            <a:endParaRPr lang="en-US" sz="2000" dirty="0"/>
          </a:p>
        </p:txBody>
      </p:sp>
      <p:sp>
        <p:nvSpPr>
          <p:cNvPr id="3" name="Shape 1"/>
          <p:cNvSpPr/>
          <p:nvPr/>
        </p:nvSpPr>
        <p:spPr>
          <a:xfrm>
            <a:off x="3200400" y="492868"/>
            <a:ext cx="27432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804672"/>
            <a:ext cx="8229600" cy="502920"/>
          </a:xfrm>
          <a:prstGeom prst="rect">
            <a:avLst/>
          </a:prstGeom>
          <a:solidFill>
            <a:srgbClr val="1E3A5F"/>
          </a:solidFill>
          <a:ln/>
        </p:spPr>
        <p:txBody>
          <a:bodyPr/>
          <a:lstStyle/>
          <a:p>
            <a:endParaRPr lang="en-IN"/>
          </a:p>
        </p:txBody>
      </p:sp>
      <p:sp>
        <p:nvSpPr>
          <p:cNvPr id="5" name="Text 3"/>
          <p:cNvSpPr/>
          <p:nvPr/>
        </p:nvSpPr>
        <p:spPr>
          <a:xfrm>
            <a:off x="457200" y="804672"/>
            <a:ext cx="8229600" cy="502920"/>
          </a:xfrm>
          <a:prstGeom prst="rect">
            <a:avLst/>
          </a:prstGeom>
          <a:noFill/>
          <a:ln/>
        </p:spPr>
        <p:txBody>
          <a:bodyPr wrap="square"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S = { I, O, F, DD, NDD, S, Fai }</a:t>
            </a:r>
            <a:endParaRPr lang="en-US" sz="1600" dirty="0"/>
          </a:p>
        </p:txBody>
      </p:sp>
      <p:sp>
        <p:nvSpPr>
          <p:cNvPr id="6" name="Shape 4"/>
          <p:cNvSpPr/>
          <p:nvPr/>
        </p:nvSpPr>
        <p:spPr>
          <a:xfrm>
            <a:off x="457200" y="1444752"/>
            <a:ext cx="8229600" cy="402336"/>
          </a:xfrm>
          <a:prstGeom prst="rect">
            <a:avLst/>
          </a:prstGeom>
          <a:solidFill>
            <a:srgbClr val="EBF0F7"/>
          </a:solidFill>
          <a:ln/>
        </p:spPr>
        <p:txBody>
          <a:bodyPr/>
          <a:lstStyle/>
          <a:p>
            <a:endParaRPr lang="en-IN"/>
          </a:p>
        </p:txBody>
      </p:sp>
      <p:sp>
        <p:nvSpPr>
          <p:cNvPr id="7" name="Text 5"/>
          <p:cNvSpPr/>
          <p:nvPr/>
        </p:nvSpPr>
        <p:spPr>
          <a:xfrm>
            <a:off x="594360" y="1444752"/>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I (Input)</a:t>
            </a:r>
            <a:endParaRPr lang="en-US" sz="1100" dirty="0"/>
          </a:p>
        </p:txBody>
      </p:sp>
      <p:sp>
        <p:nvSpPr>
          <p:cNvPr id="8" name="Text 6"/>
          <p:cNvSpPr/>
          <p:nvPr/>
        </p:nvSpPr>
        <p:spPr>
          <a:xfrm>
            <a:off x="2651760" y="1444752"/>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X = {F₁, F₂, ..., Fₜ} where Fₜ ∈ R^(H×W×C) represents video frames of height H, width W, and C color channels.</a:t>
            </a:r>
            <a:endParaRPr lang="en-US" sz="1000" dirty="0"/>
          </a:p>
        </p:txBody>
      </p:sp>
      <p:sp>
        <p:nvSpPr>
          <p:cNvPr id="9" name="Shape 7"/>
          <p:cNvSpPr/>
          <p:nvPr/>
        </p:nvSpPr>
        <p:spPr>
          <a:xfrm>
            <a:off x="457200" y="1892808"/>
            <a:ext cx="8229600" cy="402336"/>
          </a:xfrm>
          <a:prstGeom prst="rect">
            <a:avLst/>
          </a:prstGeom>
          <a:solidFill>
            <a:srgbClr val="FFFFFF"/>
          </a:solidFill>
          <a:ln/>
        </p:spPr>
        <p:txBody>
          <a:bodyPr/>
          <a:lstStyle/>
          <a:p>
            <a:endParaRPr lang="en-IN"/>
          </a:p>
        </p:txBody>
      </p:sp>
      <p:sp>
        <p:nvSpPr>
          <p:cNvPr id="10" name="Text 8"/>
          <p:cNvSpPr/>
          <p:nvPr/>
        </p:nvSpPr>
        <p:spPr>
          <a:xfrm>
            <a:off x="594360" y="1892808"/>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O (Output)</a:t>
            </a:r>
            <a:endParaRPr lang="en-US" sz="1100" dirty="0"/>
          </a:p>
        </p:txBody>
      </p:sp>
      <p:sp>
        <p:nvSpPr>
          <p:cNvPr id="11" name="Text 9"/>
          <p:cNvSpPr/>
          <p:nvPr/>
        </p:nvSpPr>
        <p:spPr>
          <a:xfrm>
            <a:off x="2651760" y="1892808"/>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ŷ = { Authentic, if ŷ ≥ θ ; Manipulated, if ŷ &lt; θ } — Binary classification with confidence threshold θ.</a:t>
            </a:r>
            <a:endParaRPr lang="en-US" sz="1000" dirty="0"/>
          </a:p>
        </p:txBody>
      </p:sp>
      <p:sp>
        <p:nvSpPr>
          <p:cNvPr id="12" name="Shape 10"/>
          <p:cNvSpPr/>
          <p:nvPr/>
        </p:nvSpPr>
        <p:spPr>
          <a:xfrm>
            <a:off x="457200" y="2340864"/>
            <a:ext cx="8229600" cy="402336"/>
          </a:xfrm>
          <a:prstGeom prst="rect">
            <a:avLst/>
          </a:prstGeom>
          <a:solidFill>
            <a:srgbClr val="EBF0F7"/>
          </a:solidFill>
          <a:ln/>
        </p:spPr>
        <p:txBody>
          <a:bodyPr/>
          <a:lstStyle/>
          <a:p>
            <a:endParaRPr lang="en-IN"/>
          </a:p>
        </p:txBody>
      </p:sp>
      <p:sp>
        <p:nvSpPr>
          <p:cNvPr id="13" name="Text 11"/>
          <p:cNvSpPr/>
          <p:nvPr/>
        </p:nvSpPr>
        <p:spPr>
          <a:xfrm>
            <a:off x="594360" y="2340864"/>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F (Functions)</a:t>
            </a:r>
            <a:endParaRPr lang="en-US" sz="1100" dirty="0"/>
          </a:p>
        </p:txBody>
      </p:sp>
      <p:sp>
        <p:nvSpPr>
          <p:cNvPr id="14" name="Text 12"/>
          <p:cNvSpPr/>
          <p:nvPr/>
        </p:nvSpPr>
        <p:spPr>
          <a:xfrm>
            <a:off x="2651760" y="2340864"/>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Preprocessing G(Fₜ), Spatial extraction fResNeXt(F̃ₜ), Temporal modeling BiLSTM(zₜ), Classification Softmax(Ws + b).</a:t>
            </a:r>
            <a:endParaRPr lang="en-US" sz="1000" dirty="0"/>
          </a:p>
        </p:txBody>
      </p:sp>
      <p:sp>
        <p:nvSpPr>
          <p:cNvPr id="15" name="Shape 13"/>
          <p:cNvSpPr/>
          <p:nvPr/>
        </p:nvSpPr>
        <p:spPr>
          <a:xfrm>
            <a:off x="457200" y="2788920"/>
            <a:ext cx="8229600" cy="402336"/>
          </a:xfrm>
          <a:prstGeom prst="rect">
            <a:avLst/>
          </a:prstGeom>
          <a:solidFill>
            <a:srgbClr val="FFFFFF"/>
          </a:solidFill>
          <a:ln/>
        </p:spPr>
        <p:txBody>
          <a:bodyPr/>
          <a:lstStyle/>
          <a:p>
            <a:endParaRPr lang="en-IN"/>
          </a:p>
        </p:txBody>
      </p:sp>
      <p:sp>
        <p:nvSpPr>
          <p:cNvPr id="16" name="Text 14"/>
          <p:cNvSpPr/>
          <p:nvPr/>
        </p:nvSpPr>
        <p:spPr>
          <a:xfrm>
            <a:off x="594360" y="2788920"/>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DD (Deterministic)</a:t>
            </a:r>
            <a:endParaRPr lang="en-US" sz="1100" dirty="0"/>
          </a:p>
        </p:txBody>
      </p:sp>
      <p:sp>
        <p:nvSpPr>
          <p:cNvPr id="17" name="Text 15"/>
          <p:cNvSpPr/>
          <p:nvPr/>
        </p:nvSpPr>
        <p:spPr>
          <a:xfrm>
            <a:off x="2651760" y="2788920"/>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Preprocessing steps: face detection, alignment, resize to 224×224, and normalization are deterministic operations.</a:t>
            </a:r>
            <a:endParaRPr lang="en-US" sz="1000" dirty="0"/>
          </a:p>
        </p:txBody>
      </p:sp>
      <p:sp>
        <p:nvSpPr>
          <p:cNvPr id="18" name="Shape 16"/>
          <p:cNvSpPr/>
          <p:nvPr/>
        </p:nvSpPr>
        <p:spPr>
          <a:xfrm>
            <a:off x="457200" y="3236976"/>
            <a:ext cx="8229600" cy="402336"/>
          </a:xfrm>
          <a:prstGeom prst="rect">
            <a:avLst/>
          </a:prstGeom>
          <a:solidFill>
            <a:srgbClr val="EBF0F7"/>
          </a:solidFill>
          <a:ln/>
        </p:spPr>
        <p:txBody>
          <a:bodyPr/>
          <a:lstStyle/>
          <a:p>
            <a:endParaRPr lang="en-IN"/>
          </a:p>
        </p:txBody>
      </p:sp>
      <p:sp>
        <p:nvSpPr>
          <p:cNvPr id="19" name="Text 17"/>
          <p:cNvSpPr/>
          <p:nvPr/>
        </p:nvSpPr>
        <p:spPr>
          <a:xfrm>
            <a:off x="594360" y="3236976"/>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NDD (Non-Deterministic)</a:t>
            </a:r>
            <a:endParaRPr lang="en-US" sz="1100" dirty="0"/>
          </a:p>
        </p:txBody>
      </p:sp>
      <p:sp>
        <p:nvSpPr>
          <p:cNvPr id="20" name="Text 18"/>
          <p:cNvSpPr/>
          <p:nvPr/>
        </p:nvSpPr>
        <p:spPr>
          <a:xfrm>
            <a:off x="2651760" y="3236976"/>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Weight initialization, dropout regularization, and stochastic gradient descent introduce non-determinism in training.</a:t>
            </a:r>
            <a:endParaRPr lang="en-US" sz="1000" dirty="0"/>
          </a:p>
        </p:txBody>
      </p:sp>
      <p:sp>
        <p:nvSpPr>
          <p:cNvPr id="21" name="Shape 19"/>
          <p:cNvSpPr/>
          <p:nvPr/>
        </p:nvSpPr>
        <p:spPr>
          <a:xfrm>
            <a:off x="457200" y="3685032"/>
            <a:ext cx="8229600" cy="402336"/>
          </a:xfrm>
          <a:prstGeom prst="rect">
            <a:avLst/>
          </a:prstGeom>
          <a:solidFill>
            <a:srgbClr val="FFFFFF"/>
          </a:solidFill>
          <a:ln/>
        </p:spPr>
        <p:txBody>
          <a:bodyPr/>
          <a:lstStyle/>
          <a:p>
            <a:endParaRPr lang="en-IN"/>
          </a:p>
        </p:txBody>
      </p:sp>
      <p:sp>
        <p:nvSpPr>
          <p:cNvPr id="22" name="Text 20"/>
          <p:cNvSpPr/>
          <p:nvPr/>
        </p:nvSpPr>
        <p:spPr>
          <a:xfrm>
            <a:off x="594360" y="3685032"/>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S (Success)</a:t>
            </a:r>
            <a:endParaRPr lang="en-US" sz="1100" dirty="0"/>
          </a:p>
        </p:txBody>
      </p:sp>
      <p:sp>
        <p:nvSpPr>
          <p:cNvPr id="23" name="Text 21"/>
          <p:cNvSpPr/>
          <p:nvPr/>
        </p:nvSpPr>
        <p:spPr>
          <a:xfrm>
            <a:off x="2651760" y="3685032"/>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The model correctly classifies input as Authentic or Manipulated with ~96% accuracy.</a:t>
            </a:r>
            <a:endParaRPr lang="en-US" sz="1000" dirty="0"/>
          </a:p>
        </p:txBody>
      </p:sp>
      <p:sp>
        <p:nvSpPr>
          <p:cNvPr id="24" name="Shape 22"/>
          <p:cNvSpPr/>
          <p:nvPr/>
        </p:nvSpPr>
        <p:spPr>
          <a:xfrm>
            <a:off x="457200" y="4133088"/>
            <a:ext cx="8229600" cy="402336"/>
          </a:xfrm>
          <a:prstGeom prst="rect">
            <a:avLst/>
          </a:prstGeom>
          <a:solidFill>
            <a:srgbClr val="EBF0F7"/>
          </a:solidFill>
          <a:ln/>
        </p:spPr>
        <p:txBody>
          <a:bodyPr/>
          <a:lstStyle/>
          <a:p>
            <a:endParaRPr lang="en-IN"/>
          </a:p>
        </p:txBody>
      </p:sp>
      <p:sp>
        <p:nvSpPr>
          <p:cNvPr id="25" name="Text 23"/>
          <p:cNvSpPr/>
          <p:nvPr/>
        </p:nvSpPr>
        <p:spPr>
          <a:xfrm>
            <a:off x="594360" y="4133088"/>
            <a:ext cx="2011680" cy="402336"/>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Fai (Failure)</a:t>
            </a:r>
            <a:endParaRPr lang="en-US" sz="1100" dirty="0"/>
          </a:p>
        </p:txBody>
      </p:sp>
      <p:sp>
        <p:nvSpPr>
          <p:cNvPr id="26" name="Text 24"/>
          <p:cNvSpPr/>
          <p:nvPr/>
        </p:nvSpPr>
        <p:spPr>
          <a:xfrm>
            <a:off x="2651760" y="4133088"/>
            <a:ext cx="5852160" cy="402336"/>
          </a:xfrm>
          <a:prstGeom prst="rect">
            <a:avLst/>
          </a:prstGeom>
          <a:noFill/>
          <a:ln/>
        </p:spPr>
        <p:txBody>
          <a:bodyPr wrap="square" lIns="0" tIns="0" rIns="0" bIns="0" rtlCol="0" anchor="ctr"/>
          <a:lstStyle/>
          <a:p>
            <a:pPr marL="0" indent="0">
              <a:buNone/>
            </a:pPr>
            <a:r>
              <a:rPr lang="en-US" sz="1000" dirty="0">
                <a:solidFill>
                  <a:srgbClr val="1C1C1C"/>
                </a:solidFill>
                <a:latin typeface="Calibri" pitchFamily="34" charset="0"/>
                <a:ea typeface="Calibri" pitchFamily="34" charset="-122"/>
                <a:cs typeface="Calibri" pitchFamily="34" charset="-120"/>
              </a:rPr>
              <a:t>Misclassification due to heavy compression, adversarial manipulation, or unseen deepfake techniques.</a:t>
            </a:r>
            <a:endParaRPr lang="en-US" sz="1000" dirty="0"/>
          </a:p>
        </p:txBody>
      </p:sp>
      <p:sp>
        <p:nvSpPr>
          <p:cNvPr id="27" name="Text 25"/>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8" name="Text 26"/>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59436"/>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MATHEMATICAL MODEL – EQUATIONS</a:t>
            </a:r>
            <a:endParaRPr lang="en-US" sz="2000" dirty="0"/>
          </a:p>
        </p:txBody>
      </p:sp>
      <p:sp>
        <p:nvSpPr>
          <p:cNvPr id="3" name="Shape 1"/>
          <p:cNvSpPr/>
          <p:nvPr/>
        </p:nvSpPr>
        <p:spPr>
          <a:xfrm>
            <a:off x="2743200" y="460442"/>
            <a:ext cx="36576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11804" y="715145"/>
            <a:ext cx="2926080" cy="530352"/>
          </a:xfrm>
          <a:prstGeom prst="rect">
            <a:avLst/>
          </a:prstGeom>
          <a:solidFill>
            <a:srgbClr val="1E3A5F"/>
          </a:solidFill>
          <a:ln/>
        </p:spPr>
        <p:txBody>
          <a:bodyPr/>
          <a:lstStyle/>
          <a:p>
            <a:endParaRPr lang="en-IN"/>
          </a:p>
        </p:txBody>
      </p:sp>
      <p:sp>
        <p:nvSpPr>
          <p:cNvPr id="5" name="Text 3"/>
          <p:cNvSpPr/>
          <p:nvPr/>
        </p:nvSpPr>
        <p:spPr>
          <a:xfrm>
            <a:off x="503244" y="742577"/>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1</a:t>
            </a:r>
            <a:endParaRPr lang="en-US" sz="900" dirty="0"/>
          </a:p>
        </p:txBody>
      </p:sp>
      <p:sp>
        <p:nvSpPr>
          <p:cNvPr id="6" name="Text 4"/>
          <p:cNvSpPr/>
          <p:nvPr/>
        </p:nvSpPr>
        <p:spPr>
          <a:xfrm>
            <a:off x="503244" y="916313"/>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Input Collection</a:t>
            </a:r>
            <a:endParaRPr lang="en-US" sz="1200" dirty="0"/>
          </a:p>
        </p:txBody>
      </p:sp>
      <p:sp>
        <p:nvSpPr>
          <p:cNvPr id="7" name="Shape 5"/>
          <p:cNvSpPr/>
          <p:nvPr/>
        </p:nvSpPr>
        <p:spPr>
          <a:xfrm>
            <a:off x="3429324" y="715145"/>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8" name="Text 6"/>
          <p:cNvSpPr/>
          <p:nvPr/>
        </p:nvSpPr>
        <p:spPr>
          <a:xfrm>
            <a:off x="3612204" y="715145"/>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X = {F₁, F₂, ..., Fₜ},  Fₜ ∈ R^(H×W×C)</a:t>
            </a:r>
            <a:endParaRPr lang="en-US" sz="1300" dirty="0"/>
          </a:p>
        </p:txBody>
      </p:sp>
      <p:sp>
        <p:nvSpPr>
          <p:cNvPr id="9" name="Shape 7"/>
          <p:cNvSpPr/>
          <p:nvPr/>
        </p:nvSpPr>
        <p:spPr>
          <a:xfrm>
            <a:off x="411804" y="1355225"/>
            <a:ext cx="2926080" cy="530352"/>
          </a:xfrm>
          <a:prstGeom prst="rect">
            <a:avLst/>
          </a:prstGeom>
          <a:solidFill>
            <a:srgbClr val="1E3A5F"/>
          </a:solidFill>
          <a:ln/>
        </p:spPr>
        <p:txBody>
          <a:bodyPr/>
          <a:lstStyle/>
          <a:p>
            <a:endParaRPr lang="en-IN"/>
          </a:p>
        </p:txBody>
      </p:sp>
      <p:sp>
        <p:nvSpPr>
          <p:cNvPr id="10" name="Text 8"/>
          <p:cNvSpPr/>
          <p:nvPr/>
        </p:nvSpPr>
        <p:spPr>
          <a:xfrm>
            <a:off x="503244" y="1382657"/>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2</a:t>
            </a:r>
            <a:endParaRPr lang="en-US" sz="900" dirty="0"/>
          </a:p>
        </p:txBody>
      </p:sp>
      <p:sp>
        <p:nvSpPr>
          <p:cNvPr id="11" name="Text 9"/>
          <p:cNvSpPr/>
          <p:nvPr/>
        </p:nvSpPr>
        <p:spPr>
          <a:xfrm>
            <a:off x="503244" y="1556393"/>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Preprocessing</a:t>
            </a:r>
            <a:endParaRPr lang="en-US" sz="1200" dirty="0"/>
          </a:p>
        </p:txBody>
      </p:sp>
      <p:sp>
        <p:nvSpPr>
          <p:cNvPr id="12" name="Shape 10"/>
          <p:cNvSpPr/>
          <p:nvPr/>
        </p:nvSpPr>
        <p:spPr>
          <a:xfrm>
            <a:off x="3429324" y="1355225"/>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Text 11"/>
          <p:cNvSpPr/>
          <p:nvPr/>
        </p:nvSpPr>
        <p:spPr>
          <a:xfrm>
            <a:off x="3612204" y="1355225"/>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F̃ₜ = G(Fₜ)</a:t>
            </a:r>
            <a:endParaRPr lang="en-US" sz="1300" dirty="0"/>
          </a:p>
        </p:txBody>
      </p:sp>
      <p:sp>
        <p:nvSpPr>
          <p:cNvPr id="14" name="Shape 12"/>
          <p:cNvSpPr/>
          <p:nvPr/>
        </p:nvSpPr>
        <p:spPr>
          <a:xfrm>
            <a:off x="411804" y="1995305"/>
            <a:ext cx="2926080" cy="530352"/>
          </a:xfrm>
          <a:prstGeom prst="rect">
            <a:avLst/>
          </a:prstGeom>
          <a:solidFill>
            <a:srgbClr val="1E3A5F"/>
          </a:solidFill>
          <a:ln/>
        </p:spPr>
        <p:txBody>
          <a:bodyPr/>
          <a:lstStyle/>
          <a:p>
            <a:endParaRPr lang="en-IN"/>
          </a:p>
        </p:txBody>
      </p:sp>
      <p:sp>
        <p:nvSpPr>
          <p:cNvPr id="15" name="Text 13"/>
          <p:cNvSpPr/>
          <p:nvPr/>
        </p:nvSpPr>
        <p:spPr>
          <a:xfrm>
            <a:off x="503244" y="2022737"/>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3</a:t>
            </a:r>
            <a:endParaRPr lang="en-US" sz="900" dirty="0"/>
          </a:p>
        </p:txBody>
      </p:sp>
      <p:sp>
        <p:nvSpPr>
          <p:cNvPr id="16" name="Text 14"/>
          <p:cNvSpPr/>
          <p:nvPr/>
        </p:nvSpPr>
        <p:spPr>
          <a:xfrm>
            <a:off x="503244" y="2196473"/>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Spatial Feature Extraction</a:t>
            </a:r>
            <a:endParaRPr lang="en-US" sz="1200" dirty="0"/>
          </a:p>
        </p:txBody>
      </p:sp>
      <p:sp>
        <p:nvSpPr>
          <p:cNvPr id="17" name="Shape 15"/>
          <p:cNvSpPr/>
          <p:nvPr/>
        </p:nvSpPr>
        <p:spPr>
          <a:xfrm>
            <a:off x="3429324" y="1995305"/>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8" name="Text 16"/>
          <p:cNvSpPr/>
          <p:nvPr/>
        </p:nvSpPr>
        <p:spPr>
          <a:xfrm>
            <a:off x="3612204" y="1995305"/>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zₜ = fResNeXt(F̃ₜ)</a:t>
            </a:r>
            <a:endParaRPr lang="en-US" sz="1300" dirty="0"/>
          </a:p>
        </p:txBody>
      </p:sp>
      <p:sp>
        <p:nvSpPr>
          <p:cNvPr id="19" name="Shape 17"/>
          <p:cNvSpPr/>
          <p:nvPr/>
        </p:nvSpPr>
        <p:spPr>
          <a:xfrm>
            <a:off x="411804" y="2635385"/>
            <a:ext cx="2926080" cy="530352"/>
          </a:xfrm>
          <a:prstGeom prst="rect">
            <a:avLst/>
          </a:prstGeom>
          <a:solidFill>
            <a:srgbClr val="1E3A5F"/>
          </a:solidFill>
          <a:ln/>
        </p:spPr>
        <p:txBody>
          <a:bodyPr/>
          <a:lstStyle/>
          <a:p>
            <a:endParaRPr lang="en-IN"/>
          </a:p>
        </p:txBody>
      </p:sp>
      <p:sp>
        <p:nvSpPr>
          <p:cNvPr id="20" name="Text 18"/>
          <p:cNvSpPr/>
          <p:nvPr/>
        </p:nvSpPr>
        <p:spPr>
          <a:xfrm>
            <a:off x="503244" y="2662817"/>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4</a:t>
            </a:r>
            <a:endParaRPr lang="en-US" sz="900" dirty="0"/>
          </a:p>
        </p:txBody>
      </p:sp>
      <p:sp>
        <p:nvSpPr>
          <p:cNvPr id="21" name="Text 19"/>
          <p:cNvSpPr/>
          <p:nvPr/>
        </p:nvSpPr>
        <p:spPr>
          <a:xfrm>
            <a:off x="503244" y="2836553"/>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Temporal Modeling (BiLSTM)</a:t>
            </a:r>
            <a:endParaRPr lang="en-US" sz="1200" dirty="0"/>
          </a:p>
        </p:txBody>
      </p:sp>
      <p:sp>
        <p:nvSpPr>
          <p:cNvPr id="22" name="Shape 20"/>
          <p:cNvSpPr/>
          <p:nvPr/>
        </p:nvSpPr>
        <p:spPr>
          <a:xfrm>
            <a:off x="3429324" y="2635385"/>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3" name="Text 21"/>
          <p:cNvSpPr/>
          <p:nvPr/>
        </p:nvSpPr>
        <p:spPr>
          <a:xfrm>
            <a:off x="3612204" y="2635385"/>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sₜ = BiLSTM(zₜ)</a:t>
            </a:r>
            <a:endParaRPr lang="en-US" sz="1300" dirty="0"/>
          </a:p>
        </p:txBody>
      </p:sp>
      <p:sp>
        <p:nvSpPr>
          <p:cNvPr id="24" name="Shape 22"/>
          <p:cNvSpPr/>
          <p:nvPr/>
        </p:nvSpPr>
        <p:spPr>
          <a:xfrm>
            <a:off x="411804" y="3275465"/>
            <a:ext cx="2926080" cy="530352"/>
          </a:xfrm>
          <a:prstGeom prst="rect">
            <a:avLst/>
          </a:prstGeom>
          <a:solidFill>
            <a:srgbClr val="1E3A5F"/>
          </a:solidFill>
          <a:ln/>
        </p:spPr>
        <p:txBody>
          <a:bodyPr/>
          <a:lstStyle/>
          <a:p>
            <a:endParaRPr lang="en-IN"/>
          </a:p>
        </p:txBody>
      </p:sp>
      <p:sp>
        <p:nvSpPr>
          <p:cNvPr id="25" name="Text 23"/>
          <p:cNvSpPr/>
          <p:nvPr/>
        </p:nvSpPr>
        <p:spPr>
          <a:xfrm>
            <a:off x="503244" y="3302897"/>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5</a:t>
            </a:r>
            <a:endParaRPr lang="en-US" sz="900" dirty="0"/>
          </a:p>
        </p:txBody>
      </p:sp>
      <p:sp>
        <p:nvSpPr>
          <p:cNvPr id="26" name="Text 24"/>
          <p:cNvSpPr/>
          <p:nvPr/>
        </p:nvSpPr>
        <p:spPr>
          <a:xfrm>
            <a:off x="503244" y="3476633"/>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Classification (Softmax)</a:t>
            </a:r>
            <a:endParaRPr lang="en-US" sz="1200" dirty="0"/>
          </a:p>
        </p:txBody>
      </p:sp>
      <p:sp>
        <p:nvSpPr>
          <p:cNvPr id="27" name="Shape 25"/>
          <p:cNvSpPr/>
          <p:nvPr/>
        </p:nvSpPr>
        <p:spPr>
          <a:xfrm>
            <a:off x="3429324" y="3275465"/>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8" name="Text 26"/>
          <p:cNvSpPr/>
          <p:nvPr/>
        </p:nvSpPr>
        <p:spPr>
          <a:xfrm>
            <a:off x="3612204" y="3275465"/>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ŷ = Softmax(Ws + b)</a:t>
            </a:r>
            <a:endParaRPr lang="en-US" sz="1300" dirty="0"/>
          </a:p>
        </p:txBody>
      </p:sp>
      <p:sp>
        <p:nvSpPr>
          <p:cNvPr id="29" name="Shape 27"/>
          <p:cNvSpPr/>
          <p:nvPr/>
        </p:nvSpPr>
        <p:spPr>
          <a:xfrm>
            <a:off x="411804" y="3915545"/>
            <a:ext cx="2926080" cy="530352"/>
          </a:xfrm>
          <a:prstGeom prst="rect">
            <a:avLst/>
          </a:prstGeom>
          <a:solidFill>
            <a:srgbClr val="1E3A5F"/>
          </a:solidFill>
          <a:ln/>
        </p:spPr>
        <p:txBody>
          <a:bodyPr/>
          <a:lstStyle/>
          <a:p>
            <a:endParaRPr lang="en-IN"/>
          </a:p>
        </p:txBody>
      </p:sp>
      <p:sp>
        <p:nvSpPr>
          <p:cNvPr id="30" name="Text 28"/>
          <p:cNvSpPr/>
          <p:nvPr/>
        </p:nvSpPr>
        <p:spPr>
          <a:xfrm>
            <a:off x="503244" y="3942977"/>
            <a:ext cx="731520" cy="228600"/>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Step 6</a:t>
            </a:r>
            <a:endParaRPr lang="en-US" sz="900" dirty="0"/>
          </a:p>
        </p:txBody>
      </p:sp>
      <p:sp>
        <p:nvSpPr>
          <p:cNvPr id="31" name="Text 29"/>
          <p:cNvSpPr/>
          <p:nvPr/>
        </p:nvSpPr>
        <p:spPr>
          <a:xfrm>
            <a:off x="503244" y="4116713"/>
            <a:ext cx="26517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Decision Output</a:t>
            </a:r>
            <a:endParaRPr lang="en-US" sz="1200" dirty="0"/>
          </a:p>
        </p:txBody>
      </p:sp>
      <p:sp>
        <p:nvSpPr>
          <p:cNvPr id="32" name="Shape 30"/>
          <p:cNvSpPr/>
          <p:nvPr/>
        </p:nvSpPr>
        <p:spPr>
          <a:xfrm>
            <a:off x="3429324" y="3915545"/>
            <a:ext cx="5212080" cy="530352"/>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33" name="Text 31"/>
          <p:cNvSpPr/>
          <p:nvPr/>
        </p:nvSpPr>
        <p:spPr>
          <a:xfrm>
            <a:off x="3612204" y="3915545"/>
            <a:ext cx="4846320" cy="530352"/>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y = Authentic (ŷ ≥ θ)  |  Manipulated (ŷ &lt; θ)</a:t>
            </a:r>
            <a:endParaRPr lang="en-US" sz="1300" dirty="0"/>
          </a:p>
        </p:txBody>
      </p:sp>
      <p:sp>
        <p:nvSpPr>
          <p:cNvPr id="34" name="Text 32"/>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35" name="Text 33"/>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02920" y="-7619"/>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ARCHITECTURAL MODEL</a:t>
            </a:r>
            <a:endParaRPr lang="en-US" sz="2000" dirty="0"/>
          </a:p>
        </p:txBody>
      </p:sp>
      <p:sp>
        <p:nvSpPr>
          <p:cNvPr id="3" name="Shape 1"/>
          <p:cNvSpPr/>
          <p:nvPr/>
        </p:nvSpPr>
        <p:spPr>
          <a:xfrm>
            <a:off x="3200400" y="525293"/>
            <a:ext cx="2743200" cy="0"/>
          </a:xfrm>
          <a:prstGeom prst="line">
            <a:avLst/>
          </a:prstGeom>
          <a:noFill/>
          <a:ln w="25400">
            <a:solidFill>
              <a:srgbClr val="C0392B"/>
            </a:solidFill>
            <a:prstDash val="solid"/>
          </a:ln>
        </p:spPr>
        <p:txBody>
          <a:bodyPr/>
          <a:lstStyle/>
          <a:p>
            <a:endParaRPr lang="en-IN" dirty="0"/>
          </a:p>
        </p:txBody>
      </p:sp>
      <p:sp>
        <p:nvSpPr>
          <p:cNvPr id="4" name="Shape 2"/>
          <p:cNvSpPr/>
          <p:nvPr/>
        </p:nvSpPr>
        <p:spPr>
          <a:xfrm>
            <a:off x="443484" y="813816"/>
            <a:ext cx="8229600" cy="594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43484" y="813816"/>
            <a:ext cx="64008" cy="594360"/>
          </a:xfrm>
          <a:prstGeom prst="rect">
            <a:avLst/>
          </a:prstGeom>
          <a:solidFill>
            <a:srgbClr val="148F77"/>
          </a:solidFill>
          <a:ln/>
        </p:spPr>
        <p:txBody>
          <a:bodyPr/>
          <a:lstStyle/>
          <a:p>
            <a:endParaRPr lang="en-IN"/>
          </a:p>
        </p:txBody>
      </p:sp>
      <p:sp>
        <p:nvSpPr>
          <p:cNvPr id="6" name="Text 4"/>
          <p:cNvSpPr/>
          <p:nvPr/>
        </p:nvSpPr>
        <p:spPr>
          <a:xfrm>
            <a:off x="672084" y="813816"/>
            <a:ext cx="7863840" cy="594360"/>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The system follows a layered pipeline architecture. Video input flows sequentially through preprocessing, spatial feature extraction (CNN), temporal modeling (BiLSTM), feature fusion, and classification to produce the final Authentic/Manipulated output.</a:t>
            </a:r>
            <a:endParaRPr lang="en-US" sz="1100" dirty="0"/>
          </a:p>
        </p:txBody>
      </p:sp>
      <p:sp>
        <p:nvSpPr>
          <p:cNvPr id="7" name="Shape 5"/>
          <p:cNvSpPr/>
          <p:nvPr/>
        </p:nvSpPr>
        <p:spPr>
          <a:xfrm>
            <a:off x="502920" y="1920240"/>
            <a:ext cx="1417320" cy="1463040"/>
          </a:xfrm>
          <a:prstGeom prst="rect">
            <a:avLst/>
          </a:prstGeom>
          <a:solidFill>
            <a:srgbClr val="3B7DD8"/>
          </a:solidFill>
          <a:ln/>
          <a:effectLst>
            <a:outerShdw blurRad="50800" dist="25400" dir="8100000" algn="bl" rotWithShape="0">
              <a:srgbClr val="000000">
                <a:alpha val="8000"/>
              </a:srgbClr>
            </a:outerShdw>
          </a:effectLst>
        </p:spPr>
        <p:txBody>
          <a:bodyPr/>
          <a:lstStyle/>
          <a:p>
            <a:endParaRPr lang="en-IN"/>
          </a:p>
        </p:txBody>
      </p:sp>
      <p:pic>
        <p:nvPicPr>
          <p:cNvPr id="8" name="Image 0" descr="preencoded.png"/>
          <p:cNvPicPr>
            <a:picLocks noChangeAspect="1"/>
          </p:cNvPicPr>
          <p:nvPr/>
        </p:nvPicPr>
        <p:blipFill>
          <a:blip r:embed="rId3"/>
          <a:stretch>
            <a:fillRect/>
          </a:stretch>
        </p:blipFill>
        <p:spPr>
          <a:xfrm>
            <a:off x="1010412" y="2103120"/>
            <a:ext cx="402336" cy="402336"/>
          </a:xfrm>
          <a:prstGeom prst="rect">
            <a:avLst/>
          </a:prstGeom>
        </p:spPr>
      </p:pic>
      <p:sp>
        <p:nvSpPr>
          <p:cNvPr id="9" name="Text 6"/>
          <p:cNvSpPr/>
          <p:nvPr/>
        </p:nvSpPr>
        <p:spPr>
          <a:xfrm>
            <a:off x="548640" y="2606040"/>
            <a:ext cx="132588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Video Input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(T × H × W × C)</a:t>
            </a:r>
            <a:endParaRPr lang="en-US" sz="1050" dirty="0"/>
          </a:p>
        </p:txBody>
      </p:sp>
      <p:pic>
        <p:nvPicPr>
          <p:cNvPr id="10" name="Image 1" descr="preencoded.png"/>
          <p:cNvPicPr>
            <a:picLocks noChangeAspect="1"/>
          </p:cNvPicPr>
          <p:nvPr/>
        </p:nvPicPr>
        <p:blipFill>
          <a:blip r:embed="rId4"/>
          <a:stretch>
            <a:fillRect/>
          </a:stretch>
        </p:blipFill>
        <p:spPr>
          <a:xfrm>
            <a:off x="1965960" y="2560320"/>
            <a:ext cx="164592" cy="164592"/>
          </a:xfrm>
          <a:prstGeom prst="rect">
            <a:avLst/>
          </a:prstGeom>
        </p:spPr>
      </p:pic>
      <p:sp>
        <p:nvSpPr>
          <p:cNvPr id="11" name="Shape 7"/>
          <p:cNvSpPr/>
          <p:nvPr/>
        </p:nvSpPr>
        <p:spPr>
          <a:xfrm>
            <a:off x="2176272" y="1920240"/>
            <a:ext cx="1417320" cy="1463040"/>
          </a:xfrm>
          <a:prstGeom prst="rect">
            <a:avLst/>
          </a:prstGeom>
          <a:solidFill>
            <a:srgbClr val="D4A017"/>
          </a:solidFill>
          <a:ln/>
          <a:effectLst>
            <a:outerShdw blurRad="50800" dist="25400" dir="8100000" algn="bl" rotWithShape="0">
              <a:srgbClr val="000000">
                <a:alpha val="8000"/>
              </a:srgbClr>
            </a:outerShdw>
          </a:effectLst>
        </p:spPr>
        <p:txBody>
          <a:bodyPr/>
          <a:lstStyle/>
          <a:p>
            <a:endParaRPr lang="en-IN"/>
          </a:p>
        </p:txBody>
      </p:sp>
      <p:pic>
        <p:nvPicPr>
          <p:cNvPr id="12" name="Image 2" descr="preencoded.png"/>
          <p:cNvPicPr>
            <a:picLocks noChangeAspect="1"/>
          </p:cNvPicPr>
          <p:nvPr/>
        </p:nvPicPr>
        <p:blipFill>
          <a:blip r:embed="rId5"/>
          <a:stretch>
            <a:fillRect/>
          </a:stretch>
        </p:blipFill>
        <p:spPr>
          <a:xfrm>
            <a:off x="2683764" y="2103120"/>
            <a:ext cx="402336" cy="402336"/>
          </a:xfrm>
          <a:prstGeom prst="rect">
            <a:avLst/>
          </a:prstGeom>
        </p:spPr>
      </p:pic>
      <p:sp>
        <p:nvSpPr>
          <p:cNvPr id="13" name="Text 8"/>
          <p:cNvSpPr/>
          <p:nvPr/>
        </p:nvSpPr>
        <p:spPr>
          <a:xfrm>
            <a:off x="2221992" y="2606040"/>
            <a:ext cx="132588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Preprocessing</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Pipeline</a:t>
            </a:r>
            <a:endParaRPr lang="en-US" sz="1050" dirty="0"/>
          </a:p>
        </p:txBody>
      </p:sp>
      <p:pic>
        <p:nvPicPr>
          <p:cNvPr id="14" name="Image 3" descr="preencoded.png"/>
          <p:cNvPicPr>
            <a:picLocks noChangeAspect="1"/>
          </p:cNvPicPr>
          <p:nvPr/>
        </p:nvPicPr>
        <p:blipFill>
          <a:blip r:embed="rId4"/>
          <a:stretch>
            <a:fillRect/>
          </a:stretch>
        </p:blipFill>
        <p:spPr>
          <a:xfrm>
            <a:off x="3639312" y="2560320"/>
            <a:ext cx="164592" cy="164592"/>
          </a:xfrm>
          <a:prstGeom prst="rect">
            <a:avLst/>
          </a:prstGeom>
        </p:spPr>
      </p:pic>
      <p:sp>
        <p:nvSpPr>
          <p:cNvPr id="15" name="Shape 9"/>
          <p:cNvSpPr/>
          <p:nvPr/>
        </p:nvSpPr>
        <p:spPr>
          <a:xfrm>
            <a:off x="3849624" y="1920240"/>
            <a:ext cx="1417320" cy="1463040"/>
          </a:xfrm>
          <a:prstGeom prst="rect">
            <a:avLst/>
          </a:prstGeom>
          <a:solidFill>
            <a:srgbClr val="27AE60"/>
          </a:solidFill>
          <a:ln/>
          <a:effectLst>
            <a:outerShdw blurRad="50800" dist="25400" dir="8100000" algn="bl" rotWithShape="0">
              <a:srgbClr val="000000">
                <a:alpha val="8000"/>
              </a:srgbClr>
            </a:outerShdw>
          </a:effectLst>
        </p:spPr>
        <p:txBody>
          <a:bodyPr/>
          <a:lstStyle/>
          <a:p>
            <a:endParaRPr lang="en-IN"/>
          </a:p>
        </p:txBody>
      </p:sp>
      <p:pic>
        <p:nvPicPr>
          <p:cNvPr id="16" name="Image 4" descr="preencoded.png"/>
          <p:cNvPicPr>
            <a:picLocks noChangeAspect="1"/>
          </p:cNvPicPr>
          <p:nvPr/>
        </p:nvPicPr>
        <p:blipFill>
          <a:blip r:embed="rId6"/>
          <a:stretch>
            <a:fillRect/>
          </a:stretch>
        </p:blipFill>
        <p:spPr>
          <a:xfrm>
            <a:off x="4357116" y="2103120"/>
            <a:ext cx="402336" cy="402336"/>
          </a:xfrm>
          <a:prstGeom prst="rect">
            <a:avLst/>
          </a:prstGeom>
        </p:spPr>
      </p:pic>
      <p:sp>
        <p:nvSpPr>
          <p:cNvPr id="17" name="Text 10"/>
          <p:cNvSpPr/>
          <p:nvPr/>
        </p:nvSpPr>
        <p:spPr>
          <a:xfrm>
            <a:off x="3895344" y="2606040"/>
            <a:ext cx="132588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Spatial Features</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(ResNeXt CNN)</a:t>
            </a:r>
            <a:endParaRPr lang="en-US" sz="1050" dirty="0"/>
          </a:p>
        </p:txBody>
      </p:sp>
      <p:pic>
        <p:nvPicPr>
          <p:cNvPr id="18" name="Image 5" descr="preencoded.png"/>
          <p:cNvPicPr>
            <a:picLocks noChangeAspect="1"/>
          </p:cNvPicPr>
          <p:nvPr/>
        </p:nvPicPr>
        <p:blipFill>
          <a:blip r:embed="rId4"/>
          <a:stretch>
            <a:fillRect/>
          </a:stretch>
        </p:blipFill>
        <p:spPr>
          <a:xfrm>
            <a:off x="5312664" y="2560320"/>
            <a:ext cx="164592" cy="164592"/>
          </a:xfrm>
          <a:prstGeom prst="rect">
            <a:avLst/>
          </a:prstGeom>
        </p:spPr>
      </p:pic>
      <p:sp>
        <p:nvSpPr>
          <p:cNvPr id="19" name="Shape 11"/>
          <p:cNvSpPr/>
          <p:nvPr/>
        </p:nvSpPr>
        <p:spPr>
          <a:xfrm>
            <a:off x="5522976" y="1920240"/>
            <a:ext cx="1417320" cy="1463040"/>
          </a:xfrm>
          <a:prstGeom prst="rect">
            <a:avLst/>
          </a:prstGeom>
          <a:solidFill>
            <a:srgbClr val="2980B9"/>
          </a:solidFill>
          <a:ln/>
          <a:effectLst>
            <a:outerShdw blurRad="50800" dist="25400" dir="8100000" algn="bl" rotWithShape="0">
              <a:srgbClr val="000000">
                <a:alpha val="8000"/>
              </a:srgbClr>
            </a:outerShdw>
          </a:effectLst>
        </p:spPr>
        <p:txBody>
          <a:bodyPr/>
          <a:lstStyle/>
          <a:p>
            <a:endParaRPr lang="en-IN"/>
          </a:p>
        </p:txBody>
      </p:sp>
      <p:pic>
        <p:nvPicPr>
          <p:cNvPr id="20" name="Image 6" descr="preencoded.png"/>
          <p:cNvPicPr>
            <a:picLocks noChangeAspect="1"/>
          </p:cNvPicPr>
          <p:nvPr/>
        </p:nvPicPr>
        <p:blipFill>
          <a:blip r:embed="rId7"/>
          <a:stretch>
            <a:fillRect/>
          </a:stretch>
        </p:blipFill>
        <p:spPr>
          <a:xfrm>
            <a:off x="6030468" y="2103120"/>
            <a:ext cx="402336" cy="402336"/>
          </a:xfrm>
          <a:prstGeom prst="rect">
            <a:avLst/>
          </a:prstGeom>
        </p:spPr>
      </p:pic>
      <p:sp>
        <p:nvSpPr>
          <p:cNvPr id="21" name="Text 12"/>
          <p:cNvSpPr/>
          <p:nvPr/>
        </p:nvSpPr>
        <p:spPr>
          <a:xfrm>
            <a:off x="5568696" y="2606040"/>
            <a:ext cx="132588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Temporal Model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(BiLSTM)</a:t>
            </a:r>
            <a:endParaRPr lang="en-US" sz="1050" dirty="0"/>
          </a:p>
        </p:txBody>
      </p:sp>
      <p:pic>
        <p:nvPicPr>
          <p:cNvPr id="22" name="Image 7" descr="preencoded.png"/>
          <p:cNvPicPr>
            <a:picLocks noChangeAspect="1"/>
          </p:cNvPicPr>
          <p:nvPr/>
        </p:nvPicPr>
        <p:blipFill>
          <a:blip r:embed="rId4"/>
          <a:stretch>
            <a:fillRect/>
          </a:stretch>
        </p:blipFill>
        <p:spPr>
          <a:xfrm>
            <a:off x="6986016" y="2560320"/>
            <a:ext cx="164592" cy="164592"/>
          </a:xfrm>
          <a:prstGeom prst="rect">
            <a:avLst/>
          </a:prstGeom>
        </p:spPr>
      </p:pic>
      <p:sp>
        <p:nvSpPr>
          <p:cNvPr id="23" name="Shape 13"/>
          <p:cNvSpPr/>
          <p:nvPr/>
        </p:nvSpPr>
        <p:spPr>
          <a:xfrm>
            <a:off x="7196328" y="1920240"/>
            <a:ext cx="1417320" cy="1463040"/>
          </a:xfrm>
          <a:prstGeom prst="rect">
            <a:avLst/>
          </a:prstGeom>
          <a:solidFill>
            <a:srgbClr val="E74C3C"/>
          </a:solidFill>
          <a:ln/>
          <a:effectLst>
            <a:outerShdw blurRad="50800" dist="25400" dir="8100000" algn="bl" rotWithShape="0">
              <a:srgbClr val="000000">
                <a:alpha val="8000"/>
              </a:srgbClr>
            </a:outerShdw>
          </a:effectLst>
        </p:spPr>
        <p:txBody>
          <a:bodyPr/>
          <a:lstStyle/>
          <a:p>
            <a:endParaRPr lang="en-IN"/>
          </a:p>
        </p:txBody>
      </p:sp>
      <p:pic>
        <p:nvPicPr>
          <p:cNvPr id="24" name="Image 8" descr="preencoded.png"/>
          <p:cNvPicPr>
            <a:picLocks noChangeAspect="1"/>
          </p:cNvPicPr>
          <p:nvPr/>
        </p:nvPicPr>
        <p:blipFill>
          <a:blip r:embed="rId8"/>
          <a:stretch>
            <a:fillRect/>
          </a:stretch>
        </p:blipFill>
        <p:spPr>
          <a:xfrm>
            <a:off x="7703820" y="2103120"/>
            <a:ext cx="402336" cy="402336"/>
          </a:xfrm>
          <a:prstGeom prst="rect">
            <a:avLst/>
          </a:prstGeom>
        </p:spPr>
      </p:pic>
      <p:sp>
        <p:nvSpPr>
          <p:cNvPr id="25" name="Text 14"/>
          <p:cNvSpPr/>
          <p:nvPr/>
        </p:nvSpPr>
        <p:spPr>
          <a:xfrm>
            <a:off x="7242048" y="2606040"/>
            <a:ext cx="132588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Feature Fusion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&amp; Classification</a:t>
            </a:r>
            <a:endParaRPr lang="en-US" sz="1050" dirty="0"/>
          </a:p>
        </p:txBody>
      </p:sp>
      <p:sp>
        <p:nvSpPr>
          <p:cNvPr id="26" name="Shape 15"/>
          <p:cNvSpPr/>
          <p:nvPr/>
        </p:nvSpPr>
        <p:spPr>
          <a:xfrm>
            <a:off x="2286000" y="3749040"/>
            <a:ext cx="4572000" cy="457200"/>
          </a:xfrm>
          <a:prstGeom prst="rect">
            <a:avLst/>
          </a:prstGeom>
          <a:solidFill>
            <a:srgbClr val="1A2744"/>
          </a:solidFill>
          <a:ln/>
        </p:spPr>
        <p:txBody>
          <a:bodyPr/>
          <a:lstStyle/>
          <a:p>
            <a:endParaRPr lang="en-IN"/>
          </a:p>
        </p:txBody>
      </p:sp>
      <p:sp>
        <p:nvSpPr>
          <p:cNvPr id="27" name="Text 16"/>
          <p:cNvSpPr/>
          <p:nvPr/>
        </p:nvSpPr>
        <p:spPr>
          <a:xfrm>
            <a:off x="2286000" y="3749040"/>
            <a:ext cx="45720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Classification Output: Authentic  |  Manipulated</a:t>
            </a:r>
            <a:endParaRPr lang="en-US" sz="1300" dirty="0"/>
          </a:p>
        </p:txBody>
      </p:sp>
      <p:sp>
        <p:nvSpPr>
          <p:cNvPr id="28" name="Shape 17"/>
          <p:cNvSpPr/>
          <p:nvPr/>
        </p:nvSpPr>
        <p:spPr>
          <a:xfrm>
            <a:off x="4572000" y="3383280"/>
            <a:ext cx="0" cy="365760"/>
          </a:xfrm>
          <a:prstGeom prst="line">
            <a:avLst/>
          </a:prstGeom>
          <a:noFill/>
          <a:ln w="25400">
            <a:solidFill>
              <a:srgbClr val="1A2744"/>
            </a:solidFill>
            <a:prstDash val="solid"/>
          </a:ln>
        </p:spPr>
        <p:txBody>
          <a:bodyPr/>
          <a:lstStyle/>
          <a:p>
            <a:endParaRPr lang="en-IN"/>
          </a:p>
        </p:txBody>
      </p:sp>
      <p:sp>
        <p:nvSpPr>
          <p:cNvPr id="29" name="Text 18"/>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30" name="Text 19"/>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31226"/>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ARCHITECTURAL MODEL – LAYER DETAILS</a:t>
            </a:r>
            <a:endParaRPr lang="en-US" sz="2000" dirty="0"/>
          </a:p>
        </p:txBody>
      </p:sp>
      <p:sp>
        <p:nvSpPr>
          <p:cNvPr id="3" name="Shape 1"/>
          <p:cNvSpPr/>
          <p:nvPr/>
        </p:nvSpPr>
        <p:spPr>
          <a:xfrm>
            <a:off x="2607013" y="492868"/>
            <a:ext cx="36576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11804" y="73152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11804" y="731520"/>
            <a:ext cx="64008" cy="822960"/>
          </a:xfrm>
          <a:prstGeom prst="rect">
            <a:avLst/>
          </a:prstGeom>
          <a:solidFill>
            <a:srgbClr val="1E3A5F"/>
          </a:solidFill>
          <a:ln/>
        </p:spPr>
        <p:txBody>
          <a:bodyPr/>
          <a:lstStyle/>
          <a:p>
            <a:endParaRPr lang="en-IN"/>
          </a:p>
        </p:txBody>
      </p:sp>
      <p:sp>
        <p:nvSpPr>
          <p:cNvPr id="6" name="Text 4"/>
          <p:cNvSpPr/>
          <p:nvPr/>
        </p:nvSpPr>
        <p:spPr>
          <a:xfrm>
            <a:off x="640404" y="77724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Preprocessing Pipeline</a:t>
            </a:r>
            <a:endParaRPr lang="en-US" sz="1400" dirty="0"/>
          </a:p>
        </p:txBody>
      </p:sp>
      <p:sp>
        <p:nvSpPr>
          <p:cNvPr id="7" name="Text 5"/>
          <p:cNvSpPr/>
          <p:nvPr/>
        </p:nvSpPr>
        <p:spPr>
          <a:xfrm>
            <a:off x="640404" y="1097280"/>
            <a:ext cx="7772400" cy="40233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Face detection &amp; alignment, frame sampling, resize to 224×224, normalization, and data augmentation for robust training.</a:t>
            </a:r>
            <a:endParaRPr lang="en-US" sz="1100" dirty="0"/>
          </a:p>
        </p:txBody>
      </p:sp>
      <p:sp>
        <p:nvSpPr>
          <p:cNvPr id="8" name="Shape 6"/>
          <p:cNvSpPr/>
          <p:nvPr/>
        </p:nvSpPr>
        <p:spPr>
          <a:xfrm>
            <a:off x="411804" y="169164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411804" y="1691640"/>
            <a:ext cx="64008" cy="822960"/>
          </a:xfrm>
          <a:prstGeom prst="rect">
            <a:avLst/>
          </a:prstGeom>
          <a:solidFill>
            <a:srgbClr val="148F77"/>
          </a:solidFill>
          <a:ln/>
        </p:spPr>
        <p:txBody>
          <a:bodyPr/>
          <a:lstStyle/>
          <a:p>
            <a:endParaRPr lang="en-IN"/>
          </a:p>
        </p:txBody>
      </p:sp>
      <p:sp>
        <p:nvSpPr>
          <p:cNvPr id="10" name="Text 8"/>
          <p:cNvSpPr/>
          <p:nvPr/>
        </p:nvSpPr>
        <p:spPr>
          <a:xfrm>
            <a:off x="640404" y="173736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Spatial Feature Extraction</a:t>
            </a:r>
            <a:endParaRPr lang="en-US" sz="1400" dirty="0"/>
          </a:p>
        </p:txBody>
      </p:sp>
      <p:sp>
        <p:nvSpPr>
          <p:cNvPr id="11" name="Text 9"/>
          <p:cNvSpPr/>
          <p:nvPr/>
        </p:nvSpPr>
        <p:spPr>
          <a:xfrm>
            <a:off x="640404" y="2057400"/>
            <a:ext cx="7772400" cy="40233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ResNeXt CNN backbone with convolutional layers, residual connections, and batch normalization. Produces a d-dimensional spatial feature vector per frame.</a:t>
            </a:r>
            <a:endParaRPr lang="en-US" sz="1100" dirty="0"/>
          </a:p>
        </p:txBody>
      </p:sp>
      <p:sp>
        <p:nvSpPr>
          <p:cNvPr id="12" name="Shape 10"/>
          <p:cNvSpPr/>
          <p:nvPr/>
        </p:nvSpPr>
        <p:spPr>
          <a:xfrm>
            <a:off x="411804" y="265176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11"/>
          <p:cNvSpPr/>
          <p:nvPr/>
        </p:nvSpPr>
        <p:spPr>
          <a:xfrm>
            <a:off x="411804" y="2651760"/>
            <a:ext cx="64008" cy="822960"/>
          </a:xfrm>
          <a:prstGeom prst="rect">
            <a:avLst/>
          </a:prstGeom>
          <a:solidFill>
            <a:srgbClr val="1E3A5F"/>
          </a:solidFill>
          <a:ln/>
        </p:spPr>
        <p:txBody>
          <a:bodyPr/>
          <a:lstStyle/>
          <a:p>
            <a:endParaRPr lang="en-IN"/>
          </a:p>
        </p:txBody>
      </p:sp>
      <p:sp>
        <p:nvSpPr>
          <p:cNvPr id="14" name="Text 12"/>
          <p:cNvSpPr/>
          <p:nvPr/>
        </p:nvSpPr>
        <p:spPr>
          <a:xfrm>
            <a:off x="640404" y="269748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Temporal Sequence Modeling</a:t>
            </a:r>
            <a:endParaRPr lang="en-US" sz="1400" dirty="0"/>
          </a:p>
        </p:txBody>
      </p:sp>
      <p:sp>
        <p:nvSpPr>
          <p:cNvPr id="15" name="Text 13"/>
          <p:cNvSpPr/>
          <p:nvPr/>
        </p:nvSpPr>
        <p:spPr>
          <a:xfrm>
            <a:off x="640404" y="3017520"/>
            <a:ext cx="7772400" cy="40233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BiLSTM (Bidirectional LSTM) processes spatial feature sequences in both forward and backward directions. Optional temporal attention highlights informative frames.</a:t>
            </a:r>
            <a:endParaRPr lang="en-US" sz="1100" dirty="0"/>
          </a:p>
        </p:txBody>
      </p:sp>
      <p:sp>
        <p:nvSpPr>
          <p:cNvPr id="16" name="Shape 14"/>
          <p:cNvSpPr/>
          <p:nvPr/>
        </p:nvSpPr>
        <p:spPr>
          <a:xfrm>
            <a:off x="411804" y="361188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411804" y="3611880"/>
            <a:ext cx="64008" cy="822960"/>
          </a:xfrm>
          <a:prstGeom prst="rect">
            <a:avLst/>
          </a:prstGeom>
          <a:solidFill>
            <a:srgbClr val="148F77"/>
          </a:solidFill>
          <a:ln/>
        </p:spPr>
        <p:txBody>
          <a:bodyPr/>
          <a:lstStyle/>
          <a:p>
            <a:endParaRPr lang="en-IN"/>
          </a:p>
        </p:txBody>
      </p:sp>
      <p:sp>
        <p:nvSpPr>
          <p:cNvPr id="18" name="Text 16"/>
          <p:cNvSpPr/>
          <p:nvPr/>
        </p:nvSpPr>
        <p:spPr>
          <a:xfrm>
            <a:off x="640404" y="3657600"/>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Feature Fusion &amp; Classification</a:t>
            </a:r>
            <a:endParaRPr lang="en-US" sz="1400" dirty="0"/>
          </a:p>
        </p:txBody>
      </p:sp>
      <p:sp>
        <p:nvSpPr>
          <p:cNvPr id="19" name="Text 17"/>
          <p:cNvSpPr/>
          <p:nvPr/>
        </p:nvSpPr>
        <p:spPr>
          <a:xfrm>
            <a:off x="640404" y="3977640"/>
            <a:ext cx="7772400" cy="40233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Concatenation of spatial and temporal vectors, followed by fully connected layers with dropout and softmax activation for final binary prediction.</a:t>
            </a:r>
            <a:endParaRPr lang="en-US" sz="1100" dirty="0"/>
          </a:p>
        </p:txBody>
      </p:sp>
      <p:sp>
        <p:nvSpPr>
          <p:cNvPr id="20" name="Text 18"/>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1" name="Text 19"/>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61610" y="-17510"/>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COMPONENT DIAGRAM</a:t>
            </a:r>
            <a:endParaRPr lang="en-US" sz="2000" dirty="0"/>
          </a:p>
        </p:txBody>
      </p:sp>
      <p:sp>
        <p:nvSpPr>
          <p:cNvPr id="3" name="Shape 1"/>
          <p:cNvSpPr/>
          <p:nvPr/>
        </p:nvSpPr>
        <p:spPr>
          <a:xfrm>
            <a:off x="3206885" y="499353"/>
            <a:ext cx="2743200" cy="0"/>
          </a:xfrm>
          <a:prstGeom prst="line">
            <a:avLst/>
          </a:prstGeom>
          <a:noFill/>
          <a:ln w="25400">
            <a:solidFill>
              <a:srgbClr val="C0392B"/>
            </a:solidFill>
            <a:prstDash val="solid"/>
          </a:ln>
        </p:spPr>
        <p:txBody>
          <a:bodyPr/>
          <a:lstStyle/>
          <a:p>
            <a:endParaRPr lang="en-IN" dirty="0"/>
          </a:p>
        </p:txBody>
      </p:sp>
      <p:sp>
        <p:nvSpPr>
          <p:cNvPr id="4" name="Shape 2"/>
          <p:cNvSpPr/>
          <p:nvPr/>
        </p:nvSpPr>
        <p:spPr>
          <a:xfrm>
            <a:off x="465501" y="631325"/>
            <a:ext cx="822960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65501" y="631325"/>
            <a:ext cx="64008" cy="457200"/>
          </a:xfrm>
          <a:prstGeom prst="rect">
            <a:avLst/>
          </a:prstGeom>
          <a:solidFill>
            <a:srgbClr val="148F77"/>
          </a:solidFill>
          <a:ln/>
        </p:spPr>
        <p:txBody>
          <a:bodyPr/>
          <a:lstStyle/>
          <a:p>
            <a:endParaRPr lang="en-IN"/>
          </a:p>
        </p:txBody>
      </p:sp>
      <p:sp>
        <p:nvSpPr>
          <p:cNvPr id="6" name="Text 4"/>
          <p:cNvSpPr/>
          <p:nvPr/>
        </p:nvSpPr>
        <p:spPr>
          <a:xfrm>
            <a:off x="694101" y="631325"/>
            <a:ext cx="7863840" cy="45720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The component diagram shows the key software modules and their interactions within the deepfake detection system. Each component handles a specific task and communicates through defined interfaces.</a:t>
            </a:r>
            <a:endParaRPr lang="en-US" sz="1050" dirty="0"/>
          </a:p>
        </p:txBody>
      </p:sp>
      <p:sp>
        <p:nvSpPr>
          <p:cNvPr id="7" name="Text 5"/>
          <p:cNvSpPr/>
          <p:nvPr/>
        </p:nvSpPr>
        <p:spPr>
          <a:xfrm>
            <a:off x="228600" y="1497265"/>
            <a:ext cx="822960" cy="594360"/>
          </a:xfrm>
          <a:prstGeom prst="rect">
            <a:avLst/>
          </a:prstGeom>
          <a:noFill/>
          <a:ln/>
        </p:spPr>
        <p:txBody>
          <a:bodyPr wrap="square" rtlCol="0" anchor="ctr"/>
          <a:lstStyle/>
          <a:p>
            <a:pPr marL="0" indent="0" algn="ctr">
              <a:buNone/>
            </a:pPr>
            <a:r>
              <a:rPr lang="en-US" sz="900" dirty="0">
                <a:solidFill>
                  <a:srgbClr val="5D6D7E"/>
                </a:solidFill>
                <a:latin typeface="Calibri" pitchFamily="34" charset="0"/>
                <a:ea typeface="Calibri" pitchFamily="34" charset="-122"/>
                <a:cs typeface="Calibri" pitchFamily="34" charset="-120"/>
              </a:rPr>
              <a:t>Interface</a:t>
            </a:r>
            <a:endParaRPr lang="en-US" sz="900" dirty="0"/>
          </a:p>
          <a:p>
            <a:pPr marL="0" indent="0" algn="ctr">
              <a:buNone/>
            </a:pPr>
            <a:r>
              <a:rPr lang="en-US" sz="900" dirty="0">
                <a:solidFill>
                  <a:srgbClr val="5D6D7E"/>
                </a:solidFill>
                <a:latin typeface="Calibri" pitchFamily="34" charset="0"/>
                <a:ea typeface="Calibri" pitchFamily="34" charset="-122"/>
                <a:cs typeface="Calibri" pitchFamily="34" charset="-120"/>
              </a:rPr>
              <a:t>Layer</a:t>
            </a:r>
            <a:endParaRPr lang="en-US" sz="900" dirty="0"/>
          </a:p>
        </p:txBody>
      </p:sp>
      <p:sp>
        <p:nvSpPr>
          <p:cNvPr id="8" name="Text 6"/>
          <p:cNvSpPr/>
          <p:nvPr/>
        </p:nvSpPr>
        <p:spPr>
          <a:xfrm>
            <a:off x="238263" y="2269999"/>
            <a:ext cx="822960" cy="594360"/>
          </a:xfrm>
          <a:prstGeom prst="rect">
            <a:avLst/>
          </a:prstGeom>
          <a:noFill/>
          <a:ln/>
        </p:spPr>
        <p:txBody>
          <a:bodyPr wrap="square" rtlCol="0" anchor="ctr"/>
          <a:lstStyle/>
          <a:p>
            <a:pPr marL="0" indent="0" algn="ctr">
              <a:buNone/>
            </a:pPr>
            <a:r>
              <a:rPr lang="en-US" sz="900" dirty="0">
                <a:solidFill>
                  <a:srgbClr val="5D6D7E"/>
                </a:solidFill>
                <a:latin typeface="Calibri" pitchFamily="34" charset="0"/>
                <a:ea typeface="Calibri" pitchFamily="34" charset="-122"/>
                <a:cs typeface="Calibri" pitchFamily="34" charset="-120"/>
              </a:rPr>
              <a:t>Processing</a:t>
            </a:r>
            <a:endParaRPr lang="en-US" sz="900" dirty="0"/>
          </a:p>
          <a:p>
            <a:pPr marL="0" indent="0" algn="ctr">
              <a:buNone/>
            </a:pPr>
            <a:r>
              <a:rPr lang="en-US" sz="900" dirty="0">
                <a:solidFill>
                  <a:srgbClr val="5D6D7E"/>
                </a:solidFill>
                <a:latin typeface="Calibri" pitchFamily="34" charset="0"/>
                <a:ea typeface="Calibri" pitchFamily="34" charset="-122"/>
                <a:cs typeface="Calibri" pitchFamily="34" charset="-120"/>
              </a:rPr>
              <a:t>Layer</a:t>
            </a:r>
            <a:endParaRPr lang="en-US" sz="900" dirty="0"/>
          </a:p>
        </p:txBody>
      </p:sp>
      <p:sp>
        <p:nvSpPr>
          <p:cNvPr id="9" name="Text 7"/>
          <p:cNvSpPr/>
          <p:nvPr/>
        </p:nvSpPr>
        <p:spPr>
          <a:xfrm>
            <a:off x="246953" y="3077769"/>
            <a:ext cx="822960" cy="594360"/>
          </a:xfrm>
          <a:prstGeom prst="rect">
            <a:avLst/>
          </a:prstGeom>
          <a:noFill/>
          <a:ln/>
        </p:spPr>
        <p:txBody>
          <a:bodyPr wrap="square" rtlCol="0" anchor="ctr"/>
          <a:lstStyle/>
          <a:p>
            <a:pPr marL="0" indent="0" algn="ctr">
              <a:buNone/>
            </a:pPr>
            <a:r>
              <a:rPr lang="en-US" sz="900" dirty="0">
                <a:solidFill>
                  <a:srgbClr val="5D6D7E"/>
                </a:solidFill>
                <a:latin typeface="Calibri" pitchFamily="34" charset="0"/>
                <a:ea typeface="Calibri" pitchFamily="34" charset="-122"/>
                <a:cs typeface="Calibri" pitchFamily="34" charset="-120"/>
              </a:rPr>
              <a:t>Model</a:t>
            </a:r>
            <a:endParaRPr lang="en-US" sz="900" dirty="0"/>
          </a:p>
          <a:p>
            <a:pPr marL="0" indent="0" algn="ctr">
              <a:buNone/>
            </a:pPr>
            <a:r>
              <a:rPr lang="en-US" sz="900" dirty="0">
                <a:solidFill>
                  <a:srgbClr val="5D6D7E"/>
                </a:solidFill>
                <a:latin typeface="Calibri" pitchFamily="34" charset="0"/>
                <a:ea typeface="Calibri" pitchFamily="34" charset="-122"/>
                <a:cs typeface="Calibri" pitchFamily="34" charset="-120"/>
              </a:rPr>
              <a:t>Layer</a:t>
            </a:r>
            <a:endParaRPr lang="en-US" sz="900" dirty="0"/>
          </a:p>
        </p:txBody>
      </p:sp>
      <p:sp>
        <p:nvSpPr>
          <p:cNvPr id="10" name="Text 8"/>
          <p:cNvSpPr/>
          <p:nvPr/>
        </p:nvSpPr>
        <p:spPr>
          <a:xfrm>
            <a:off x="256032" y="3824479"/>
            <a:ext cx="822960" cy="594360"/>
          </a:xfrm>
          <a:prstGeom prst="rect">
            <a:avLst/>
          </a:prstGeom>
          <a:noFill/>
          <a:ln/>
        </p:spPr>
        <p:txBody>
          <a:bodyPr wrap="square" rtlCol="0" anchor="ctr"/>
          <a:lstStyle/>
          <a:p>
            <a:pPr marL="0" indent="0" algn="ctr">
              <a:buNone/>
            </a:pPr>
            <a:r>
              <a:rPr lang="en-US" sz="900" dirty="0">
                <a:solidFill>
                  <a:srgbClr val="5D6D7E"/>
                </a:solidFill>
                <a:latin typeface="Calibri" pitchFamily="34" charset="0"/>
                <a:ea typeface="Calibri" pitchFamily="34" charset="-122"/>
                <a:cs typeface="Calibri" pitchFamily="34" charset="-120"/>
              </a:rPr>
              <a:t>Output</a:t>
            </a:r>
            <a:endParaRPr lang="en-US" sz="900" dirty="0"/>
          </a:p>
          <a:p>
            <a:pPr marL="0" indent="0" algn="ctr">
              <a:buNone/>
            </a:pPr>
            <a:r>
              <a:rPr lang="en-US" sz="900" dirty="0">
                <a:solidFill>
                  <a:srgbClr val="5D6D7E"/>
                </a:solidFill>
                <a:latin typeface="Calibri" pitchFamily="34" charset="0"/>
                <a:ea typeface="Calibri" pitchFamily="34" charset="-122"/>
                <a:cs typeface="Calibri" pitchFamily="34" charset="-120"/>
              </a:rPr>
              <a:t>Layer</a:t>
            </a:r>
            <a:endParaRPr lang="en-US" sz="900" dirty="0"/>
          </a:p>
        </p:txBody>
      </p:sp>
      <p:sp>
        <p:nvSpPr>
          <p:cNvPr id="11" name="Shape 9"/>
          <p:cNvSpPr/>
          <p:nvPr/>
        </p:nvSpPr>
        <p:spPr>
          <a:xfrm>
            <a:off x="1051560" y="2377440"/>
            <a:ext cx="7589520" cy="0"/>
          </a:xfrm>
          <a:prstGeom prst="line">
            <a:avLst/>
          </a:prstGeom>
          <a:noFill/>
          <a:ln w="6350">
            <a:solidFill>
              <a:srgbClr val="D0D5DD"/>
            </a:solidFill>
            <a:prstDash val="dash"/>
          </a:ln>
        </p:spPr>
        <p:txBody>
          <a:bodyPr/>
          <a:lstStyle/>
          <a:p>
            <a:endParaRPr lang="en-IN"/>
          </a:p>
        </p:txBody>
      </p:sp>
      <p:sp>
        <p:nvSpPr>
          <p:cNvPr id="12" name="Shape 10"/>
          <p:cNvSpPr/>
          <p:nvPr/>
        </p:nvSpPr>
        <p:spPr>
          <a:xfrm>
            <a:off x="1051560" y="3154680"/>
            <a:ext cx="7589520" cy="0"/>
          </a:xfrm>
          <a:prstGeom prst="line">
            <a:avLst/>
          </a:prstGeom>
          <a:noFill/>
          <a:ln w="6350">
            <a:solidFill>
              <a:srgbClr val="D0D5DD"/>
            </a:solidFill>
            <a:prstDash val="dash"/>
          </a:ln>
        </p:spPr>
        <p:txBody>
          <a:bodyPr/>
          <a:lstStyle/>
          <a:p>
            <a:endParaRPr lang="en-IN"/>
          </a:p>
        </p:txBody>
      </p:sp>
      <p:sp>
        <p:nvSpPr>
          <p:cNvPr id="13" name="Shape 11"/>
          <p:cNvSpPr/>
          <p:nvPr/>
        </p:nvSpPr>
        <p:spPr>
          <a:xfrm>
            <a:off x="1051560" y="3886200"/>
            <a:ext cx="7589520" cy="0"/>
          </a:xfrm>
          <a:prstGeom prst="line">
            <a:avLst/>
          </a:prstGeom>
          <a:noFill/>
          <a:ln w="6350">
            <a:solidFill>
              <a:srgbClr val="D0D5DD"/>
            </a:solidFill>
            <a:prstDash val="dash"/>
          </a:ln>
        </p:spPr>
        <p:txBody>
          <a:bodyPr/>
          <a:lstStyle/>
          <a:p>
            <a:endParaRPr lang="en-IN"/>
          </a:p>
        </p:txBody>
      </p:sp>
      <p:sp>
        <p:nvSpPr>
          <p:cNvPr id="14" name="Shape 12"/>
          <p:cNvSpPr/>
          <p:nvPr/>
        </p:nvSpPr>
        <p:spPr>
          <a:xfrm>
            <a:off x="1463040" y="1492759"/>
            <a:ext cx="2011680" cy="594360"/>
          </a:xfrm>
          <a:prstGeom prst="rect">
            <a:avLst/>
          </a:prstGeom>
          <a:solidFill>
            <a:srgbClr val="FFFFFF"/>
          </a:solidFill>
          <a:ln w="19050">
            <a:solidFill>
              <a:srgbClr val="3B7DD8"/>
            </a:solidFill>
            <a:prstDash val="solid"/>
          </a:ln>
          <a:effectLst>
            <a:outerShdw blurRad="50800" dist="25400" dir="8100000" algn="bl" rotWithShape="0">
              <a:srgbClr val="000000">
                <a:alpha val="8000"/>
              </a:srgbClr>
            </a:outerShdw>
          </a:effectLst>
        </p:spPr>
        <p:txBody>
          <a:bodyPr/>
          <a:lstStyle/>
          <a:p>
            <a:endParaRPr lang="en-IN"/>
          </a:p>
        </p:txBody>
      </p:sp>
      <p:sp>
        <p:nvSpPr>
          <p:cNvPr id="15" name="Shape 13"/>
          <p:cNvSpPr/>
          <p:nvPr/>
        </p:nvSpPr>
        <p:spPr>
          <a:xfrm>
            <a:off x="1389888" y="1584199"/>
            <a:ext cx="146304" cy="109728"/>
          </a:xfrm>
          <a:prstGeom prst="rect">
            <a:avLst/>
          </a:prstGeom>
          <a:solidFill>
            <a:srgbClr val="3B7DD8"/>
          </a:solidFill>
          <a:ln w="12700">
            <a:solidFill>
              <a:srgbClr val="3B7DD8"/>
            </a:solidFill>
            <a:prstDash val="solid"/>
          </a:ln>
        </p:spPr>
        <p:txBody>
          <a:bodyPr/>
          <a:lstStyle/>
          <a:p>
            <a:endParaRPr lang="en-IN"/>
          </a:p>
        </p:txBody>
      </p:sp>
      <p:sp>
        <p:nvSpPr>
          <p:cNvPr id="16" name="Shape 14"/>
          <p:cNvSpPr/>
          <p:nvPr/>
        </p:nvSpPr>
        <p:spPr>
          <a:xfrm>
            <a:off x="1389888" y="1812799"/>
            <a:ext cx="146304" cy="109728"/>
          </a:xfrm>
          <a:prstGeom prst="rect">
            <a:avLst/>
          </a:prstGeom>
          <a:solidFill>
            <a:srgbClr val="3B7DD8"/>
          </a:solidFill>
          <a:ln w="12700">
            <a:solidFill>
              <a:srgbClr val="3B7DD8"/>
            </a:solidFill>
            <a:prstDash val="solid"/>
          </a:ln>
        </p:spPr>
        <p:txBody>
          <a:bodyPr/>
          <a:lstStyle/>
          <a:p>
            <a:endParaRPr lang="en-IN"/>
          </a:p>
        </p:txBody>
      </p:sp>
      <p:sp>
        <p:nvSpPr>
          <p:cNvPr id="17" name="Text 15"/>
          <p:cNvSpPr/>
          <p:nvPr/>
        </p:nvSpPr>
        <p:spPr>
          <a:xfrm>
            <a:off x="1554480" y="1492759"/>
            <a:ext cx="182880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Video Input Handler</a:t>
            </a:r>
            <a:endParaRPr lang="en-US" sz="1050" dirty="0"/>
          </a:p>
        </p:txBody>
      </p:sp>
      <p:sp>
        <p:nvSpPr>
          <p:cNvPr id="18" name="Shape 16"/>
          <p:cNvSpPr/>
          <p:nvPr/>
        </p:nvSpPr>
        <p:spPr>
          <a:xfrm>
            <a:off x="3929326" y="1479043"/>
            <a:ext cx="1828800" cy="594360"/>
          </a:xfrm>
          <a:prstGeom prst="rect">
            <a:avLst/>
          </a:prstGeom>
          <a:solidFill>
            <a:srgbClr val="FFFFFF"/>
          </a:solidFill>
          <a:ln w="19050">
            <a:solidFill>
              <a:srgbClr val="3B7DD8"/>
            </a:solidFill>
            <a:prstDash val="solid"/>
          </a:ln>
          <a:effectLst>
            <a:outerShdw blurRad="50800" dist="25400" dir="8100000" algn="bl" rotWithShape="0">
              <a:srgbClr val="000000">
                <a:alpha val="8000"/>
              </a:srgbClr>
            </a:outerShdw>
          </a:effectLst>
        </p:spPr>
        <p:txBody>
          <a:bodyPr/>
          <a:lstStyle/>
          <a:p>
            <a:endParaRPr lang="en-IN"/>
          </a:p>
        </p:txBody>
      </p:sp>
      <p:sp>
        <p:nvSpPr>
          <p:cNvPr id="19" name="Shape 17"/>
          <p:cNvSpPr/>
          <p:nvPr/>
        </p:nvSpPr>
        <p:spPr>
          <a:xfrm>
            <a:off x="3858768" y="1584199"/>
            <a:ext cx="146304" cy="109728"/>
          </a:xfrm>
          <a:prstGeom prst="rect">
            <a:avLst/>
          </a:prstGeom>
          <a:solidFill>
            <a:srgbClr val="3B7DD8"/>
          </a:solidFill>
          <a:ln w="12700">
            <a:solidFill>
              <a:srgbClr val="3B7DD8"/>
            </a:solidFill>
            <a:prstDash val="solid"/>
          </a:ln>
        </p:spPr>
        <p:txBody>
          <a:bodyPr/>
          <a:lstStyle/>
          <a:p>
            <a:endParaRPr lang="en-IN"/>
          </a:p>
        </p:txBody>
      </p:sp>
      <p:sp>
        <p:nvSpPr>
          <p:cNvPr id="20" name="Shape 18"/>
          <p:cNvSpPr/>
          <p:nvPr/>
        </p:nvSpPr>
        <p:spPr>
          <a:xfrm>
            <a:off x="3858768" y="1812799"/>
            <a:ext cx="146304" cy="109728"/>
          </a:xfrm>
          <a:prstGeom prst="rect">
            <a:avLst/>
          </a:prstGeom>
          <a:solidFill>
            <a:srgbClr val="3B7DD8"/>
          </a:solidFill>
          <a:ln w="12700">
            <a:solidFill>
              <a:srgbClr val="3B7DD8"/>
            </a:solidFill>
            <a:prstDash val="solid"/>
          </a:ln>
        </p:spPr>
        <p:txBody>
          <a:bodyPr/>
          <a:lstStyle/>
          <a:p>
            <a:endParaRPr lang="en-IN"/>
          </a:p>
        </p:txBody>
      </p:sp>
      <p:sp>
        <p:nvSpPr>
          <p:cNvPr id="21" name="Text 19"/>
          <p:cNvSpPr/>
          <p:nvPr/>
        </p:nvSpPr>
        <p:spPr>
          <a:xfrm>
            <a:off x="4023360" y="1492759"/>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User Interface</a:t>
            </a:r>
            <a:endParaRPr lang="en-US" sz="1050" dirty="0"/>
          </a:p>
        </p:txBody>
      </p:sp>
      <p:sp>
        <p:nvSpPr>
          <p:cNvPr id="22" name="Shape 20"/>
          <p:cNvSpPr/>
          <p:nvPr/>
        </p:nvSpPr>
        <p:spPr>
          <a:xfrm>
            <a:off x="6217920" y="1492759"/>
            <a:ext cx="2011680" cy="594360"/>
          </a:xfrm>
          <a:prstGeom prst="rect">
            <a:avLst/>
          </a:prstGeom>
          <a:solidFill>
            <a:srgbClr val="FFFFFF"/>
          </a:solidFill>
          <a:ln w="19050">
            <a:solidFill>
              <a:srgbClr val="3B7DD8"/>
            </a:solidFill>
            <a:prstDash val="solid"/>
          </a:ln>
          <a:effectLst>
            <a:outerShdw blurRad="50800" dist="25400" dir="8100000" algn="bl" rotWithShape="0">
              <a:srgbClr val="000000">
                <a:alpha val="8000"/>
              </a:srgbClr>
            </a:outerShdw>
          </a:effectLst>
        </p:spPr>
        <p:txBody>
          <a:bodyPr/>
          <a:lstStyle/>
          <a:p>
            <a:endParaRPr lang="en-IN"/>
          </a:p>
        </p:txBody>
      </p:sp>
      <p:sp>
        <p:nvSpPr>
          <p:cNvPr id="23" name="Shape 21"/>
          <p:cNvSpPr/>
          <p:nvPr/>
        </p:nvSpPr>
        <p:spPr>
          <a:xfrm>
            <a:off x="6144768" y="1584199"/>
            <a:ext cx="146304" cy="109728"/>
          </a:xfrm>
          <a:prstGeom prst="rect">
            <a:avLst/>
          </a:prstGeom>
          <a:solidFill>
            <a:srgbClr val="3B7DD8"/>
          </a:solidFill>
          <a:ln w="12700">
            <a:solidFill>
              <a:srgbClr val="3B7DD8"/>
            </a:solidFill>
            <a:prstDash val="solid"/>
          </a:ln>
        </p:spPr>
        <p:txBody>
          <a:bodyPr/>
          <a:lstStyle/>
          <a:p>
            <a:endParaRPr lang="en-IN"/>
          </a:p>
        </p:txBody>
      </p:sp>
      <p:sp>
        <p:nvSpPr>
          <p:cNvPr id="24" name="Shape 22"/>
          <p:cNvSpPr/>
          <p:nvPr/>
        </p:nvSpPr>
        <p:spPr>
          <a:xfrm>
            <a:off x="6144768" y="1812799"/>
            <a:ext cx="146304" cy="109728"/>
          </a:xfrm>
          <a:prstGeom prst="rect">
            <a:avLst/>
          </a:prstGeom>
          <a:solidFill>
            <a:srgbClr val="3B7DD8"/>
          </a:solidFill>
          <a:ln w="12700">
            <a:solidFill>
              <a:srgbClr val="3B7DD8"/>
            </a:solidFill>
            <a:prstDash val="solid"/>
          </a:ln>
        </p:spPr>
        <p:txBody>
          <a:bodyPr/>
          <a:lstStyle/>
          <a:p>
            <a:endParaRPr lang="en-IN"/>
          </a:p>
        </p:txBody>
      </p:sp>
      <p:sp>
        <p:nvSpPr>
          <p:cNvPr id="25" name="Text 23"/>
          <p:cNvSpPr/>
          <p:nvPr/>
        </p:nvSpPr>
        <p:spPr>
          <a:xfrm>
            <a:off x="6309360" y="1492759"/>
            <a:ext cx="182880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Configuration Manager</a:t>
            </a:r>
            <a:endParaRPr lang="en-US" sz="1050" dirty="0"/>
          </a:p>
        </p:txBody>
      </p:sp>
      <p:sp>
        <p:nvSpPr>
          <p:cNvPr id="26" name="Shape 24"/>
          <p:cNvSpPr/>
          <p:nvPr/>
        </p:nvSpPr>
        <p:spPr>
          <a:xfrm>
            <a:off x="1463040" y="2269999"/>
            <a:ext cx="2011680" cy="594360"/>
          </a:xfrm>
          <a:prstGeom prst="rect">
            <a:avLst/>
          </a:prstGeom>
          <a:solidFill>
            <a:srgbClr val="FFFFFF"/>
          </a:solidFill>
          <a:ln w="19050">
            <a:solidFill>
              <a:srgbClr val="148F77"/>
            </a:solidFill>
            <a:prstDash val="solid"/>
          </a:ln>
          <a:effectLst>
            <a:outerShdw blurRad="50800" dist="25400" dir="8100000" algn="bl" rotWithShape="0">
              <a:srgbClr val="000000">
                <a:alpha val="8000"/>
              </a:srgbClr>
            </a:outerShdw>
          </a:effectLst>
        </p:spPr>
        <p:txBody>
          <a:bodyPr/>
          <a:lstStyle/>
          <a:p>
            <a:endParaRPr lang="en-IN"/>
          </a:p>
        </p:txBody>
      </p:sp>
      <p:sp>
        <p:nvSpPr>
          <p:cNvPr id="27" name="Shape 25"/>
          <p:cNvSpPr/>
          <p:nvPr/>
        </p:nvSpPr>
        <p:spPr>
          <a:xfrm>
            <a:off x="1389888" y="2361439"/>
            <a:ext cx="146304" cy="109728"/>
          </a:xfrm>
          <a:prstGeom prst="rect">
            <a:avLst/>
          </a:prstGeom>
          <a:solidFill>
            <a:srgbClr val="148F77"/>
          </a:solidFill>
          <a:ln w="12700">
            <a:solidFill>
              <a:srgbClr val="148F77"/>
            </a:solidFill>
            <a:prstDash val="solid"/>
          </a:ln>
        </p:spPr>
        <p:txBody>
          <a:bodyPr/>
          <a:lstStyle/>
          <a:p>
            <a:endParaRPr lang="en-IN"/>
          </a:p>
        </p:txBody>
      </p:sp>
      <p:sp>
        <p:nvSpPr>
          <p:cNvPr id="28" name="Shape 26"/>
          <p:cNvSpPr/>
          <p:nvPr/>
        </p:nvSpPr>
        <p:spPr>
          <a:xfrm>
            <a:off x="1389888" y="2590039"/>
            <a:ext cx="146304" cy="109728"/>
          </a:xfrm>
          <a:prstGeom prst="rect">
            <a:avLst/>
          </a:prstGeom>
          <a:solidFill>
            <a:srgbClr val="148F77"/>
          </a:solidFill>
          <a:ln w="12700">
            <a:solidFill>
              <a:srgbClr val="148F77"/>
            </a:solidFill>
            <a:prstDash val="solid"/>
          </a:ln>
        </p:spPr>
        <p:txBody>
          <a:bodyPr/>
          <a:lstStyle/>
          <a:p>
            <a:endParaRPr lang="en-IN"/>
          </a:p>
        </p:txBody>
      </p:sp>
      <p:sp>
        <p:nvSpPr>
          <p:cNvPr id="29" name="Text 27"/>
          <p:cNvSpPr/>
          <p:nvPr/>
        </p:nvSpPr>
        <p:spPr>
          <a:xfrm>
            <a:off x="1554480" y="2269999"/>
            <a:ext cx="182880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Face Detector</a:t>
            </a:r>
            <a:endParaRPr lang="en-US" sz="1050" dirty="0"/>
          </a:p>
          <a:p>
            <a:pPr marL="0" indent="0" algn="ctr">
              <a:buNone/>
            </a:pPr>
            <a:r>
              <a:rPr lang="en-US" sz="1050" b="1" dirty="0">
                <a:solidFill>
                  <a:srgbClr val="1C1C1C"/>
                </a:solidFill>
                <a:latin typeface="Calibri" pitchFamily="34" charset="0"/>
                <a:ea typeface="Calibri" pitchFamily="34" charset="-122"/>
                <a:cs typeface="Calibri" pitchFamily="34" charset="-120"/>
              </a:rPr>
              <a:t>(MTCNN)</a:t>
            </a:r>
            <a:endParaRPr lang="en-US" sz="1050" dirty="0"/>
          </a:p>
        </p:txBody>
      </p:sp>
      <p:sp>
        <p:nvSpPr>
          <p:cNvPr id="30" name="Shape 28"/>
          <p:cNvSpPr/>
          <p:nvPr/>
        </p:nvSpPr>
        <p:spPr>
          <a:xfrm>
            <a:off x="3931920" y="2269999"/>
            <a:ext cx="1828800" cy="594360"/>
          </a:xfrm>
          <a:prstGeom prst="rect">
            <a:avLst/>
          </a:prstGeom>
          <a:solidFill>
            <a:srgbClr val="FFFFFF"/>
          </a:solidFill>
          <a:ln w="19050">
            <a:solidFill>
              <a:srgbClr val="148F77"/>
            </a:solidFill>
            <a:prstDash val="solid"/>
          </a:ln>
          <a:effectLst>
            <a:outerShdw blurRad="50800" dist="25400" dir="8100000" algn="bl" rotWithShape="0">
              <a:srgbClr val="000000">
                <a:alpha val="8000"/>
              </a:srgbClr>
            </a:outerShdw>
          </a:effectLst>
        </p:spPr>
        <p:txBody>
          <a:bodyPr/>
          <a:lstStyle/>
          <a:p>
            <a:endParaRPr lang="en-IN"/>
          </a:p>
        </p:txBody>
      </p:sp>
      <p:sp>
        <p:nvSpPr>
          <p:cNvPr id="31" name="Shape 29"/>
          <p:cNvSpPr/>
          <p:nvPr/>
        </p:nvSpPr>
        <p:spPr>
          <a:xfrm>
            <a:off x="3858768" y="2361439"/>
            <a:ext cx="146304" cy="109728"/>
          </a:xfrm>
          <a:prstGeom prst="rect">
            <a:avLst/>
          </a:prstGeom>
          <a:solidFill>
            <a:srgbClr val="148F77"/>
          </a:solidFill>
          <a:ln w="12700">
            <a:solidFill>
              <a:srgbClr val="148F77"/>
            </a:solidFill>
            <a:prstDash val="solid"/>
          </a:ln>
        </p:spPr>
        <p:txBody>
          <a:bodyPr/>
          <a:lstStyle/>
          <a:p>
            <a:endParaRPr lang="en-IN"/>
          </a:p>
        </p:txBody>
      </p:sp>
      <p:sp>
        <p:nvSpPr>
          <p:cNvPr id="32" name="Shape 30"/>
          <p:cNvSpPr/>
          <p:nvPr/>
        </p:nvSpPr>
        <p:spPr>
          <a:xfrm>
            <a:off x="3858768" y="2590039"/>
            <a:ext cx="146304" cy="109728"/>
          </a:xfrm>
          <a:prstGeom prst="rect">
            <a:avLst/>
          </a:prstGeom>
          <a:solidFill>
            <a:srgbClr val="148F77"/>
          </a:solidFill>
          <a:ln w="12700">
            <a:solidFill>
              <a:srgbClr val="148F77"/>
            </a:solidFill>
            <a:prstDash val="solid"/>
          </a:ln>
        </p:spPr>
        <p:txBody>
          <a:bodyPr/>
          <a:lstStyle/>
          <a:p>
            <a:endParaRPr lang="en-IN"/>
          </a:p>
        </p:txBody>
      </p:sp>
      <p:sp>
        <p:nvSpPr>
          <p:cNvPr id="33" name="Text 31"/>
          <p:cNvSpPr/>
          <p:nvPr/>
        </p:nvSpPr>
        <p:spPr>
          <a:xfrm>
            <a:off x="4023360" y="2269999"/>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Frame Preprocessor</a:t>
            </a:r>
            <a:endParaRPr lang="en-US" sz="1050" dirty="0"/>
          </a:p>
        </p:txBody>
      </p:sp>
      <p:sp>
        <p:nvSpPr>
          <p:cNvPr id="34" name="Shape 32"/>
          <p:cNvSpPr/>
          <p:nvPr/>
        </p:nvSpPr>
        <p:spPr>
          <a:xfrm>
            <a:off x="6217920" y="2269999"/>
            <a:ext cx="2011680" cy="594360"/>
          </a:xfrm>
          <a:prstGeom prst="rect">
            <a:avLst/>
          </a:prstGeom>
          <a:solidFill>
            <a:srgbClr val="FFFFFF"/>
          </a:solidFill>
          <a:ln w="19050">
            <a:solidFill>
              <a:srgbClr val="148F77"/>
            </a:solidFill>
            <a:prstDash val="solid"/>
          </a:ln>
          <a:effectLst>
            <a:outerShdw blurRad="50800" dist="25400" dir="8100000" algn="bl" rotWithShape="0">
              <a:srgbClr val="000000">
                <a:alpha val="8000"/>
              </a:srgbClr>
            </a:outerShdw>
          </a:effectLst>
        </p:spPr>
        <p:txBody>
          <a:bodyPr/>
          <a:lstStyle/>
          <a:p>
            <a:endParaRPr lang="en-IN"/>
          </a:p>
        </p:txBody>
      </p:sp>
      <p:sp>
        <p:nvSpPr>
          <p:cNvPr id="35" name="Shape 33"/>
          <p:cNvSpPr/>
          <p:nvPr/>
        </p:nvSpPr>
        <p:spPr>
          <a:xfrm>
            <a:off x="6144768" y="2361439"/>
            <a:ext cx="146304" cy="109728"/>
          </a:xfrm>
          <a:prstGeom prst="rect">
            <a:avLst/>
          </a:prstGeom>
          <a:solidFill>
            <a:srgbClr val="148F77"/>
          </a:solidFill>
          <a:ln w="12700">
            <a:solidFill>
              <a:srgbClr val="148F77"/>
            </a:solidFill>
            <a:prstDash val="solid"/>
          </a:ln>
        </p:spPr>
        <p:txBody>
          <a:bodyPr/>
          <a:lstStyle/>
          <a:p>
            <a:endParaRPr lang="en-IN"/>
          </a:p>
        </p:txBody>
      </p:sp>
      <p:sp>
        <p:nvSpPr>
          <p:cNvPr id="36" name="Shape 34"/>
          <p:cNvSpPr/>
          <p:nvPr/>
        </p:nvSpPr>
        <p:spPr>
          <a:xfrm>
            <a:off x="6144768" y="2590039"/>
            <a:ext cx="146304" cy="109728"/>
          </a:xfrm>
          <a:prstGeom prst="rect">
            <a:avLst/>
          </a:prstGeom>
          <a:solidFill>
            <a:srgbClr val="148F77"/>
          </a:solidFill>
          <a:ln w="12700">
            <a:solidFill>
              <a:srgbClr val="148F77"/>
            </a:solidFill>
            <a:prstDash val="solid"/>
          </a:ln>
        </p:spPr>
        <p:txBody>
          <a:bodyPr/>
          <a:lstStyle/>
          <a:p>
            <a:endParaRPr lang="en-IN"/>
          </a:p>
        </p:txBody>
      </p:sp>
      <p:sp>
        <p:nvSpPr>
          <p:cNvPr id="37" name="Text 35"/>
          <p:cNvSpPr/>
          <p:nvPr/>
        </p:nvSpPr>
        <p:spPr>
          <a:xfrm>
            <a:off x="6309360" y="2269999"/>
            <a:ext cx="182880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Data Augmentor</a:t>
            </a:r>
            <a:endParaRPr lang="en-US" sz="1050" dirty="0"/>
          </a:p>
        </p:txBody>
      </p:sp>
      <p:sp>
        <p:nvSpPr>
          <p:cNvPr id="38" name="Shape 36"/>
          <p:cNvSpPr/>
          <p:nvPr/>
        </p:nvSpPr>
        <p:spPr>
          <a:xfrm>
            <a:off x="1463040" y="3047239"/>
            <a:ext cx="1828800" cy="594360"/>
          </a:xfrm>
          <a:prstGeom prst="rect">
            <a:avLst/>
          </a:prstGeom>
          <a:solidFill>
            <a:srgbClr val="FFFFFF"/>
          </a:solidFill>
          <a:ln w="19050">
            <a:solidFill>
              <a:srgbClr val="C0392B"/>
            </a:solidFill>
            <a:prstDash val="solid"/>
          </a:ln>
          <a:effectLst>
            <a:outerShdw blurRad="50800" dist="25400" dir="8100000" algn="bl" rotWithShape="0">
              <a:srgbClr val="000000">
                <a:alpha val="8000"/>
              </a:srgbClr>
            </a:outerShdw>
          </a:effectLst>
        </p:spPr>
        <p:txBody>
          <a:bodyPr/>
          <a:lstStyle/>
          <a:p>
            <a:endParaRPr lang="en-IN"/>
          </a:p>
        </p:txBody>
      </p:sp>
      <p:sp>
        <p:nvSpPr>
          <p:cNvPr id="39" name="Shape 37"/>
          <p:cNvSpPr/>
          <p:nvPr/>
        </p:nvSpPr>
        <p:spPr>
          <a:xfrm>
            <a:off x="1389888" y="3138679"/>
            <a:ext cx="146304" cy="109728"/>
          </a:xfrm>
          <a:prstGeom prst="rect">
            <a:avLst/>
          </a:prstGeom>
          <a:solidFill>
            <a:srgbClr val="C0392B"/>
          </a:solidFill>
          <a:ln w="12700">
            <a:solidFill>
              <a:srgbClr val="C0392B"/>
            </a:solidFill>
            <a:prstDash val="solid"/>
          </a:ln>
        </p:spPr>
        <p:txBody>
          <a:bodyPr/>
          <a:lstStyle/>
          <a:p>
            <a:endParaRPr lang="en-IN"/>
          </a:p>
        </p:txBody>
      </p:sp>
      <p:sp>
        <p:nvSpPr>
          <p:cNvPr id="40" name="Shape 38"/>
          <p:cNvSpPr/>
          <p:nvPr/>
        </p:nvSpPr>
        <p:spPr>
          <a:xfrm>
            <a:off x="1389888" y="3367279"/>
            <a:ext cx="146304" cy="109728"/>
          </a:xfrm>
          <a:prstGeom prst="rect">
            <a:avLst/>
          </a:prstGeom>
          <a:solidFill>
            <a:srgbClr val="C0392B"/>
          </a:solidFill>
          <a:ln w="12700">
            <a:solidFill>
              <a:srgbClr val="C0392B"/>
            </a:solidFill>
            <a:prstDash val="solid"/>
          </a:ln>
        </p:spPr>
        <p:txBody>
          <a:bodyPr/>
          <a:lstStyle/>
          <a:p>
            <a:endParaRPr lang="en-IN"/>
          </a:p>
        </p:txBody>
      </p:sp>
      <p:sp>
        <p:nvSpPr>
          <p:cNvPr id="41" name="Text 39"/>
          <p:cNvSpPr/>
          <p:nvPr/>
        </p:nvSpPr>
        <p:spPr>
          <a:xfrm>
            <a:off x="1554480" y="3047239"/>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ResNeXt</a:t>
            </a:r>
            <a:endParaRPr lang="en-US" sz="1050" dirty="0"/>
          </a:p>
          <a:p>
            <a:pPr marL="0" indent="0" algn="ctr">
              <a:buNone/>
            </a:pPr>
            <a:r>
              <a:rPr lang="en-US" sz="1050" b="1" dirty="0">
                <a:solidFill>
                  <a:srgbClr val="1C1C1C"/>
                </a:solidFill>
                <a:latin typeface="Calibri" pitchFamily="34" charset="0"/>
                <a:ea typeface="Calibri" pitchFamily="34" charset="-122"/>
                <a:cs typeface="Calibri" pitchFamily="34" charset="-120"/>
              </a:rPr>
              <a:t>(Spatial CNN)</a:t>
            </a:r>
            <a:endParaRPr lang="en-US" sz="1050" dirty="0"/>
          </a:p>
        </p:txBody>
      </p:sp>
      <p:sp>
        <p:nvSpPr>
          <p:cNvPr id="42" name="Shape 40"/>
          <p:cNvSpPr/>
          <p:nvPr/>
        </p:nvSpPr>
        <p:spPr>
          <a:xfrm>
            <a:off x="3657600" y="3047239"/>
            <a:ext cx="1828800" cy="594360"/>
          </a:xfrm>
          <a:prstGeom prst="rect">
            <a:avLst/>
          </a:prstGeom>
          <a:solidFill>
            <a:srgbClr val="FFFFFF"/>
          </a:solidFill>
          <a:ln w="19050">
            <a:solidFill>
              <a:srgbClr val="C0392B"/>
            </a:solidFill>
            <a:prstDash val="solid"/>
          </a:ln>
          <a:effectLst>
            <a:outerShdw blurRad="50800" dist="25400" dir="8100000" algn="bl" rotWithShape="0">
              <a:srgbClr val="000000">
                <a:alpha val="8000"/>
              </a:srgbClr>
            </a:outerShdw>
          </a:effectLst>
        </p:spPr>
        <p:txBody>
          <a:bodyPr/>
          <a:lstStyle/>
          <a:p>
            <a:endParaRPr lang="en-IN"/>
          </a:p>
        </p:txBody>
      </p:sp>
      <p:sp>
        <p:nvSpPr>
          <p:cNvPr id="43" name="Shape 41"/>
          <p:cNvSpPr/>
          <p:nvPr/>
        </p:nvSpPr>
        <p:spPr>
          <a:xfrm>
            <a:off x="3584448" y="3138679"/>
            <a:ext cx="146304" cy="109728"/>
          </a:xfrm>
          <a:prstGeom prst="rect">
            <a:avLst/>
          </a:prstGeom>
          <a:solidFill>
            <a:srgbClr val="C0392B"/>
          </a:solidFill>
          <a:ln w="12700">
            <a:solidFill>
              <a:srgbClr val="C0392B"/>
            </a:solidFill>
            <a:prstDash val="solid"/>
          </a:ln>
        </p:spPr>
        <p:txBody>
          <a:bodyPr/>
          <a:lstStyle/>
          <a:p>
            <a:endParaRPr lang="en-IN"/>
          </a:p>
        </p:txBody>
      </p:sp>
      <p:sp>
        <p:nvSpPr>
          <p:cNvPr id="44" name="Shape 42"/>
          <p:cNvSpPr/>
          <p:nvPr/>
        </p:nvSpPr>
        <p:spPr>
          <a:xfrm>
            <a:off x="3584448" y="3367279"/>
            <a:ext cx="146304" cy="109728"/>
          </a:xfrm>
          <a:prstGeom prst="rect">
            <a:avLst/>
          </a:prstGeom>
          <a:solidFill>
            <a:srgbClr val="C0392B"/>
          </a:solidFill>
          <a:ln w="12700">
            <a:solidFill>
              <a:srgbClr val="C0392B"/>
            </a:solidFill>
            <a:prstDash val="solid"/>
          </a:ln>
        </p:spPr>
        <p:txBody>
          <a:bodyPr/>
          <a:lstStyle/>
          <a:p>
            <a:endParaRPr lang="en-IN"/>
          </a:p>
        </p:txBody>
      </p:sp>
      <p:sp>
        <p:nvSpPr>
          <p:cNvPr id="45" name="Text 43"/>
          <p:cNvSpPr/>
          <p:nvPr/>
        </p:nvSpPr>
        <p:spPr>
          <a:xfrm>
            <a:off x="3749040" y="3047239"/>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BiLSTM</a:t>
            </a:r>
            <a:endParaRPr lang="en-US" sz="1050" dirty="0"/>
          </a:p>
          <a:p>
            <a:pPr marL="0" indent="0" algn="ctr">
              <a:buNone/>
            </a:pPr>
            <a:r>
              <a:rPr lang="en-US" sz="1050" b="1" dirty="0">
                <a:solidFill>
                  <a:srgbClr val="1C1C1C"/>
                </a:solidFill>
                <a:latin typeface="Calibri" pitchFamily="34" charset="0"/>
                <a:ea typeface="Calibri" pitchFamily="34" charset="-122"/>
                <a:cs typeface="Calibri" pitchFamily="34" charset="-120"/>
              </a:rPr>
              <a:t>(Temporal)</a:t>
            </a:r>
            <a:endParaRPr lang="en-US" sz="1050" dirty="0"/>
          </a:p>
        </p:txBody>
      </p:sp>
      <p:sp>
        <p:nvSpPr>
          <p:cNvPr id="46" name="Shape 44"/>
          <p:cNvSpPr/>
          <p:nvPr/>
        </p:nvSpPr>
        <p:spPr>
          <a:xfrm>
            <a:off x="5852160" y="3047239"/>
            <a:ext cx="1371600" cy="594360"/>
          </a:xfrm>
          <a:prstGeom prst="rect">
            <a:avLst/>
          </a:prstGeom>
          <a:solidFill>
            <a:srgbClr val="FFFFFF"/>
          </a:solidFill>
          <a:ln w="19050">
            <a:solidFill>
              <a:srgbClr val="C0392B"/>
            </a:solidFill>
            <a:prstDash val="solid"/>
          </a:ln>
          <a:effectLst>
            <a:outerShdw blurRad="50800" dist="25400" dir="8100000" algn="bl" rotWithShape="0">
              <a:srgbClr val="000000">
                <a:alpha val="8000"/>
              </a:srgbClr>
            </a:outerShdw>
          </a:effectLst>
        </p:spPr>
        <p:txBody>
          <a:bodyPr/>
          <a:lstStyle/>
          <a:p>
            <a:endParaRPr lang="en-IN"/>
          </a:p>
        </p:txBody>
      </p:sp>
      <p:sp>
        <p:nvSpPr>
          <p:cNvPr id="47" name="Shape 45"/>
          <p:cNvSpPr/>
          <p:nvPr/>
        </p:nvSpPr>
        <p:spPr>
          <a:xfrm>
            <a:off x="5779008" y="3138679"/>
            <a:ext cx="146304" cy="109728"/>
          </a:xfrm>
          <a:prstGeom prst="rect">
            <a:avLst/>
          </a:prstGeom>
          <a:solidFill>
            <a:srgbClr val="C0392B"/>
          </a:solidFill>
          <a:ln w="12700">
            <a:solidFill>
              <a:srgbClr val="C0392B"/>
            </a:solidFill>
            <a:prstDash val="solid"/>
          </a:ln>
        </p:spPr>
        <p:txBody>
          <a:bodyPr/>
          <a:lstStyle/>
          <a:p>
            <a:endParaRPr lang="en-IN"/>
          </a:p>
        </p:txBody>
      </p:sp>
      <p:sp>
        <p:nvSpPr>
          <p:cNvPr id="48" name="Shape 46"/>
          <p:cNvSpPr/>
          <p:nvPr/>
        </p:nvSpPr>
        <p:spPr>
          <a:xfrm>
            <a:off x="5779008" y="3367279"/>
            <a:ext cx="146304" cy="109728"/>
          </a:xfrm>
          <a:prstGeom prst="rect">
            <a:avLst/>
          </a:prstGeom>
          <a:solidFill>
            <a:srgbClr val="C0392B"/>
          </a:solidFill>
          <a:ln w="12700">
            <a:solidFill>
              <a:srgbClr val="C0392B"/>
            </a:solidFill>
            <a:prstDash val="solid"/>
          </a:ln>
        </p:spPr>
        <p:txBody>
          <a:bodyPr/>
          <a:lstStyle/>
          <a:p>
            <a:endParaRPr lang="en-IN"/>
          </a:p>
        </p:txBody>
      </p:sp>
      <p:sp>
        <p:nvSpPr>
          <p:cNvPr id="49" name="Text 47"/>
          <p:cNvSpPr/>
          <p:nvPr/>
        </p:nvSpPr>
        <p:spPr>
          <a:xfrm>
            <a:off x="5943600" y="3047239"/>
            <a:ext cx="11887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Attention</a:t>
            </a:r>
            <a:endParaRPr lang="en-US" sz="1050" dirty="0"/>
          </a:p>
          <a:p>
            <a:pPr marL="0" indent="0" algn="ctr">
              <a:buNone/>
            </a:pPr>
            <a:r>
              <a:rPr lang="en-US" sz="1050" b="1" dirty="0">
                <a:solidFill>
                  <a:srgbClr val="1C1C1C"/>
                </a:solidFill>
                <a:latin typeface="Calibri" pitchFamily="34" charset="0"/>
                <a:ea typeface="Calibri" pitchFamily="34" charset="-122"/>
                <a:cs typeface="Calibri" pitchFamily="34" charset="-120"/>
              </a:rPr>
              <a:t>Module</a:t>
            </a:r>
            <a:endParaRPr lang="en-US" sz="1050" dirty="0"/>
          </a:p>
        </p:txBody>
      </p:sp>
      <p:sp>
        <p:nvSpPr>
          <p:cNvPr id="50" name="Shape 48"/>
          <p:cNvSpPr/>
          <p:nvPr/>
        </p:nvSpPr>
        <p:spPr>
          <a:xfrm>
            <a:off x="7406640" y="3047239"/>
            <a:ext cx="1097280" cy="594360"/>
          </a:xfrm>
          <a:prstGeom prst="rect">
            <a:avLst/>
          </a:prstGeom>
          <a:solidFill>
            <a:srgbClr val="FFFFFF"/>
          </a:solidFill>
          <a:ln w="19050">
            <a:solidFill>
              <a:srgbClr val="C0392B"/>
            </a:solidFill>
            <a:prstDash val="solid"/>
          </a:ln>
          <a:effectLst>
            <a:outerShdw blurRad="50800" dist="25400" dir="8100000" algn="bl" rotWithShape="0">
              <a:srgbClr val="000000">
                <a:alpha val="8000"/>
              </a:srgbClr>
            </a:outerShdw>
          </a:effectLst>
        </p:spPr>
        <p:txBody>
          <a:bodyPr/>
          <a:lstStyle/>
          <a:p>
            <a:endParaRPr lang="en-IN"/>
          </a:p>
        </p:txBody>
      </p:sp>
      <p:sp>
        <p:nvSpPr>
          <p:cNvPr id="51" name="Shape 49"/>
          <p:cNvSpPr/>
          <p:nvPr/>
        </p:nvSpPr>
        <p:spPr>
          <a:xfrm>
            <a:off x="7333488" y="3138679"/>
            <a:ext cx="146304" cy="109728"/>
          </a:xfrm>
          <a:prstGeom prst="rect">
            <a:avLst/>
          </a:prstGeom>
          <a:solidFill>
            <a:srgbClr val="C0392B"/>
          </a:solidFill>
          <a:ln w="12700">
            <a:solidFill>
              <a:srgbClr val="C0392B"/>
            </a:solidFill>
            <a:prstDash val="solid"/>
          </a:ln>
        </p:spPr>
        <p:txBody>
          <a:bodyPr/>
          <a:lstStyle/>
          <a:p>
            <a:endParaRPr lang="en-IN"/>
          </a:p>
        </p:txBody>
      </p:sp>
      <p:sp>
        <p:nvSpPr>
          <p:cNvPr id="52" name="Shape 50"/>
          <p:cNvSpPr/>
          <p:nvPr/>
        </p:nvSpPr>
        <p:spPr>
          <a:xfrm>
            <a:off x="7333488" y="3367279"/>
            <a:ext cx="146304" cy="109728"/>
          </a:xfrm>
          <a:prstGeom prst="rect">
            <a:avLst/>
          </a:prstGeom>
          <a:solidFill>
            <a:srgbClr val="C0392B"/>
          </a:solidFill>
          <a:ln w="12700">
            <a:solidFill>
              <a:srgbClr val="C0392B"/>
            </a:solidFill>
            <a:prstDash val="solid"/>
          </a:ln>
        </p:spPr>
        <p:txBody>
          <a:bodyPr/>
          <a:lstStyle/>
          <a:p>
            <a:endParaRPr lang="en-IN"/>
          </a:p>
        </p:txBody>
      </p:sp>
      <p:sp>
        <p:nvSpPr>
          <p:cNvPr id="53" name="Text 51"/>
          <p:cNvSpPr/>
          <p:nvPr/>
        </p:nvSpPr>
        <p:spPr>
          <a:xfrm>
            <a:off x="7498080" y="3047239"/>
            <a:ext cx="91440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Classifier</a:t>
            </a:r>
            <a:endParaRPr lang="en-US" sz="1050" dirty="0"/>
          </a:p>
        </p:txBody>
      </p:sp>
      <p:sp>
        <p:nvSpPr>
          <p:cNvPr id="54" name="Shape 52"/>
          <p:cNvSpPr/>
          <p:nvPr/>
        </p:nvSpPr>
        <p:spPr>
          <a:xfrm>
            <a:off x="1463040" y="3824479"/>
            <a:ext cx="2286000" cy="594360"/>
          </a:xfrm>
          <a:prstGeom prst="rect">
            <a:avLst/>
          </a:prstGeom>
          <a:solidFill>
            <a:srgbClr val="FFFFFF"/>
          </a:solidFill>
          <a:ln w="19050">
            <a:solidFill>
              <a:srgbClr val="1E3A5F"/>
            </a:solidFill>
            <a:prstDash val="solid"/>
          </a:ln>
          <a:effectLst>
            <a:outerShdw blurRad="50800" dist="25400" dir="8100000" algn="bl" rotWithShape="0">
              <a:srgbClr val="000000">
                <a:alpha val="8000"/>
              </a:srgbClr>
            </a:outerShdw>
          </a:effectLst>
        </p:spPr>
        <p:txBody>
          <a:bodyPr/>
          <a:lstStyle/>
          <a:p>
            <a:endParaRPr lang="en-IN"/>
          </a:p>
        </p:txBody>
      </p:sp>
      <p:sp>
        <p:nvSpPr>
          <p:cNvPr id="55" name="Shape 53"/>
          <p:cNvSpPr/>
          <p:nvPr/>
        </p:nvSpPr>
        <p:spPr>
          <a:xfrm>
            <a:off x="1389888" y="3915919"/>
            <a:ext cx="146304" cy="109728"/>
          </a:xfrm>
          <a:prstGeom prst="rect">
            <a:avLst/>
          </a:prstGeom>
          <a:solidFill>
            <a:srgbClr val="1E3A5F"/>
          </a:solidFill>
          <a:ln w="12700">
            <a:solidFill>
              <a:srgbClr val="1E3A5F"/>
            </a:solidFill>
            <a:prstDash val="solid"/>
          </a:ln>
        </p:spPr>
        <p:txBody>
          <a:bodyPr/>
          <a:lstStyle/>
          <a:p>
            <a:endParaRPr lang="en-IN"/>
          </a:p>
        </p:txBody>
      </p:sp>
      <p:sp>
        <p:nvSpPr>
          <p:cNvPr id="56" name="Shape 54"/>
          <p:cNvSpPr/>
          <p:nvPr/>
        </p:nvSpPr>
        <p:spPr>
          <a:xfrm>
            <a:off x="1389888" y="4144519"/>
            <a:ext cx="146304" cy="109728"/>
          </a:xfrm>
          <a:prstGeom prst="rect">
            <a:avLst/>
          </a:prstGeom>
          <a:solidFill>
            <a:srgbClr val="1E3A5F"/>
          </a:solidFill>
          <a:ln w="12700">
            <a:solidFill>
              <a:srgbClr val="1E3A5F"/>
            </a:solidFill>
            <a:prstDash val="solid"/>
          </a:ln>
        </p:spPr>
        <p:txBody>
          <a:bodyPr/>
          <a:lstStyle/>
          <a:p>
            <a:endParaRPr lang="en-IN"/>
          </a:p>
        </p:txBody>
      </p:sp>
      <p:sp>
        <p:nvSpPr>
          <p:cNvPr id="57" name="Text 55"/>
          <p:cNvSpPr/>
          <p:nvPr/>
        </p:nvSpPr>
        <p:spPr>
          <a:xfrm>
            <a:off x="1554480" y="3824479"/>
            <a:ext cx="21031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Report Generator</a:t>
            </a:r>
            <a:endParaRPr lang="en-US" sz="1050" dirty="0"/>
          </a:p>
        </p:txBody>
      </p:sp>
      <p:sp>
        <p:nvSpPr>
          <p:cNvPr id="58" name="Shape 56"/>
          <p:cNvSpPr/>
          <p:nvPr/>
        </p:nvSpPr>
        <p:spPr>
          <a:xfrm>
            <a:off x="4206240" y="3824479"/>
            <a:ext cx="1828800" cy="594360"/>
          </a:xfrm>
          <a:prstGeom prst="rect">
            <a:avLst/>
          </a:prstGeom>
          <a:solidFill>
            <a:srgbClr val="FFFFFF"/>
          </a:solidFill>
          <a:ln w="19050">
            <a:solidFill>
              <a:srgbClr val="1E3A5F"/>
            </a:solidFill>
            <a:prstDash val="solid"/>
          </a:ln>
          <a:effectLst>
            <a:outerShdw blurRad="50800" dist="25400" dir="8100000" algn="bl" rotWithShape="0">
              <a:srgbClr val="000000">
                <a:alpha val="8000"/>
              </a:srgbClr>
            </a:outerShdw>
          </a:effectLst>
        </p:spPr>
        <p:txBody>
          <a:bodyPr/>
          <a:lstStyle/>
          <a:p>
            <a:endParaRPr lang="en-IN"/>
          </a:p>
        </p:txBody>
      </p:sp>
      <p:sp>
        <p:nvSpPr>
          <p:cNvPr id="59" name="Shape 57"/>
          <p:cNvSpPr/>
          <p:nvPr/>
        </p:nvSpPr>
        <p:spPr>
          <a:xfrm>
            <a:off x="4133088" y="3915919"/>
            <a:ext cx="146304" cy="109728"/>
          </a:xfrm>
          <a:prstGeom prst="rect">
            <a:avLst/>
          </a:prstGeom>
          <a:solidFill>
            <a:srgbClr val="1E3A5F"/>
          </a:solidFill>
          <a:ln w="12700">
            <a:solidFill>
              <a:srgbClr val="1E3A5F"/>
            </a:solidFill>
            <a:prstDash val="solid"/>
          </a:ln>
        </p:spPr>
        <p:txBody>
          <a:bodyPr/>
          <a:lstStyle/>
          <a:p>
            <a:endParaRPr lang="en-IN"/>
          </a:p>
        </p:txBody>
      </p:sp>
      <p:sp>
        <p:nvSpPr>
          <p:cNvPr id="60" name="Shape 58"/>
          <p:cNvSpPr/>
          <p:nvPr/>
        </p:nvSpPr>
        <p:spPr>
          <a:xfrm>
            <a:off x="4133088" y="4144519"/>
            <a:ext cx="146304" cy="109728"/>
          </a:xfrm>
          <a:prstGeom prst="rect">
            <a:avLst/>
          </a:prstGeom>
          <a:solidFill>
            <a:srgbClr val="1E3A5F"/>
          </a:solidFill>
          <a:ln w="12700">
            <a:solidFill>
              <a:srgbClr val="1E3A5F"/>
            </a:solidFill>
            <a:prstDash val="solid"/>
          </a:ln>
        </p:spPr>
        <p:txBody>
          <a:bodyPr/>
          <a:lstStyle/>
          <a:p>
            <a:endParaRPr lang="en-IN"/>
          </a:p>
        </p:txBody>
      </p:sp>
      <p:sp>
        <p:nvSpPr>
          <p:cNvPr id="61" name="Text 59"/>
          <p:cNvSpPr/>
          <p:nvPr/>
        </p:nvSpPr>
        <p:spPr>
          <a:xfrm>
            <a:off x="4297680" y="3824479"/>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Result Storage</a:t>
            </a:r>
            <a:endParaRPr lang="en-US" sz="1050" dirty="0"/>
          </a:p>
        </p:txBody>
      </p:sp>
      <p:sp>
        <p:nvSpPr>
          <p:cNvPr id="62" name="Shape 60"/>
          <p:cNvSpPr/>
          <p:nvPr/>
        </p:nvSpPr>
        <p:spPr>
          <a:xfrm>
            <a:off x="6492240" y="3824479"/>
            <a:ext cx="1828800" cy="594360"/>
          </a:xfrm>
          <a:prstGeom prst="rect">
            <a:avLst/>
          </a:prstGeom>
          <a:solidFill>
            <a:srgbClr val="FFFFFF"/>
          </a:solidFill>
          <a:ln w="19050">
            <a:solidFill>
              <a:srgbClr val="1E3A5F"/>
            </a:solidFill>
            <a:prstDash val="solid"/>
          </a:ln>
          <a:effectLst>
            <a:outerShdw blurRad="50800" dist="25400" dir="8100000" algn="bl" rotWithShape="0">
              <a:srgbClr val="000000">
                <a:alpha val="8000"/>
              </a:srgbClr>
            </a:outerShdw>
          </a:effectLst>
        </p:spPr>
        <p:txBody>
          <a:bodyPr/>
          <a:lstStyle/>
          <a:p>
            <a:endParaRPr lang="en-IN"/>
          </a:p>
        </p:txBody>
      </p:sp>
      <p:sp>
        <p:nvSpPr>
          <p:cNvPr id="63" name="Shape 61"/>
          <p:cNvSpPr/>
          <p:nvPr/>
        </p:nvSpPr>
        <p:spPr>
          <a:xfrm>
            <a:off x="6419088" y="3915919"/>
            <a:ext cx="146304" cy="109728"/>
          </a:xfrm>
          <a:prstGeom prst="rect">
            <a:avLst/>
          </a:prstGeom>
          <a:solidFill>
            <a:srgbClr val="1E3A5F"/>
          </a:solidFill>
          <a:ln w="12700">
            <a:solidFill>
              <a:srgbClr val="1E3A5F"/>
            </a:solidFill>
            <a:prstDash val="solid"/>
          </a:ln>
        </p:spPr>
        <p:txBody>
          <a:bodyPr/>
          <a:lstStyle/>
          <a:p>
            <a:endParaRPr lang="en-IN"/>
          </a:p>
        </p:txBody>
      </p:sp>
      <p:sp>
        <p:nvSpPr>
          <p:cNvPr id="64" name="Shape 62"/>
          <p:cNvSpPr/>
          <p:nvPr/>
        </p:nvSpPr>
        <p:spPr>
          <a:xfrm>
            <a:off x="6419088" y="4144519"/>
            <a:ext cx="146304" cy="109728"/>
          </a:xfrm>
          <a:prstGeom prst="rect">
            <a:avLst/>
          </a:prstGeom>
          <a:solidFill>
            <a:srgbClr val="1E3A5F"/>
          </a:solidFill>
          <a:ln w="12700">
            <a:solidFill>
              <a:srgbClr val="1E3A5F"/>
            </a:solidFill>
            <a:prstDash val="solid"/>
          </a:ln>
        </p:spPr>
        <p:txBody>
          <a:bodyPr/>
          <a:lstStyle/>
          <a:p>
            <a:endParaRPr lang="en-IN"/>
          </a:p>
        </p:txBody>
      </p:sp>
      <p:sp>
        <p:nvSpPr>
          <p:cNvPr id="65" name="Text 63"/>
          <p:cNvSpPr/>
          <p:nvPr/>
        </p:nvSpPr>
        <p:spPr>
          <a:xfrm>
            <a:off x="6583680" y="3824479"/>
            <a:ext cx="1645920" cy="594360"/>
          </a:xfrm>
          <a:prstGeom prst="rect">
            <a:avLst/>
          </a:prstGeom>
          <a:noFill/>
          <a:ln/>
        </p:spPr>
        <p:txBody>
          <a:bodyPr wrap="square" lIns="0" tIns="0" rIns="0" bIns="0" rtlCol="0" anchor="ctr"/>
          <a:lstStyle/>
          <a:p>
            <a:pPr marL="0" indent="0" algn="ctr">
              <a:buNone/>
            </a:pPr>
            <a:r>
              <a:rPr lang="en-US" sz="1050" b="1" dirty="0">
                <a:solidFill>
                  <a:srgbClr val="1C1C1C"/>
                </a:solidFill>
                <a:latin typeface="Calibri" pitchFamily="34" charset="0"/>
                <a:ea typeface="Calibri" pitchFamily="34" charset="-122"/>
                <a:cs typeface="Calibri" pitchFamily="34" charset="-120"/>
              </a:rPr>
              <a:t>Performance Logger</a:t>
            </a:r>
            <a:endParaRPr lang="en-US" sz="1050" dirty="0"/>
          </a:p>
        </p:txBody>
      </p:sp>
      <p:sp>
        <p:nvSpPr>
          <p:cNvPr id="66" name="Text 64"/>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67" name="Text 65"/>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21208" y="114300"/>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COMPONENT DIAGRAM – DESCRIPTION</a:t>
            </a:r>
            <a:endParaRPr lang="en-US" sz="2000" dirty="0"/>
          </a:p>
        </p:txBody>
      </p:sp>
      <p:sp>
        <p:nvSpPr>
          <p:cNvPr id="3" name="Shape 1"/>
          <p:cNvSpPr/>
          <p:nvPr/>
        </p:nvSpPr>
        <p:spPr>
          <a:xfrm>
            <a:off x="2743200" y="596630"/>
            <a:ext cx="3657600" cy="0"/>
          </a:xfrm>
          <a:prstGeom prst="line">
            <a:avLst/>
          </a:prstGeom>
          <a:noFill/>
          <a:ln w="25400">
            <a:solidFill>
              <a:srgbClr val="C0392B"/>
            </a:solidFill>
            <a:prstDash val="solid"/>
          </a:ln>
        </p:spPr>
        <p:txBody>
          <a:bodyPr/>
          <a:lstStyle/>
          <a:p>
            <a:endParaRPr lang="en-IN"/>
          </a:p>
        </p:txBody>
      </p:sp>
      <p:sp>
        <p:nvSpPr>
          <p:cNvPr id="4" name="Shape 2"/>
          <p:cNvSpPr/>
          <p:nvPr/>
        </p:nvSpPr>
        <p:spPr>
          <a:xfrm>
            <a:off x="393192" y="75438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393192" y="754380"/>
            <a:ext cx="64008" cy="822960"/>
          </a:xfrm>
          <a:prstGeom prst="rect">
            <a:avLst/>
          </a:prstGeom>
          <a:solidFill>
            <a:srgbClr val="1E3A5F"/>
          </a:solidFill>
          <a:ln/>
        </p:spPr>
        <p:txBody>
          <a:bodyPr/>
          <a:lstStyle/>
          <a:p>
            <a:endParaRPr lang="en-IN"/>
          </a:p>
        </p:txBody>
      </p:sp>
      <p:sp>
        <p:nvSpPr>
          <p:cNvPr id="6" name="Text 4"/>
          <p:cNvSpPr/>
          <p:nvPr/>
        </p:nvSpPr>
        <p:spPr>
          <a:xfrm>
            <a:off x="621792" y="800100"/>
            <a:ext cx="7772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Interface Layer</a:t>
            </a:r>
            <a:endParaRPr lang="en-US" sz="1400" dirty="0"/>
          </a:p>
        </p:txBody>
      </p:sp>
      <p:sp>
        <p:nvSpPr>
          <p:cNvPr id="7" name="Text 5"/>
          <p:cNvSpPr/>
          <p:nvPr/>
        </p:nvSpPr>
        <p:spPr>
          <a:xfrm>
            <a:off x="621792" y="1101852"/>
            <a:ext cx="7772400" cy="42062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Video Input Handler accepts uploads in MP4/AVI/MOV. User Interface provides interaction for analysis and results. Configuration Manager handles model parameters and system settings.</a:t>
            </a:r>
            <a:endParaRPr lang="en-US" sz="1050" dirty="0"/>
          </a:p>
        </p:txBody>
      </p:sp>
      <p:sp>
        <p:nvSpPr>
          <p:cNvPr id="8" name="Shape 6"/>
          <p:cNvSpPr/>
          <p:nvPr/>
        </p:nvSpPr>
        <p:spPr>
          <a:xfrm>
            <a:off x="393192" y="171450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393192" y="1714500"/>
            <a:ext cx="64008" cy="822960"/>
          </a:xfrm>
          <a:prstGeom prst="rect">
            <a:avLst/>
          </a:prstGeom>
          <a:solidFill>
            <a:srgbClr val="148F77"/>
          </a:solidFill>
          <a:ln/>
        </p:spPr>
        <p:txBody>
          <a:bodyPr/>
          <a:lstStyle/>
          <a:p>
            <a:endParaRPr lang="en-IN"/>
          </a:p>
        </p:txBody>
      </p:sp>
      <p:sp>
        <p:nvSpPr>
          <p:cNvPr id="10" name="Text 8"/>
          <p:cNvSpPr/>
          <p:nvPr/>
        </p:nvSpPr>
        <p:spPr>
          <a:xfrm>
            <a:off x="621792" y="1760220"/>
            <a:ext cx="7772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Processing Layer</a:t>
            </a:r>
            <a:endParaRPr lang="en-US" sz="1400" dirty="0"/>
          </a:p>
        </p:txBody>
      </p:sp>
      <p:sp>
        <p:nvSpPr>
          <p:cNvPr id="11" name="Text 9"/>
          <p:cNvSpPr/>
          <p:nvPr/>
        </p:nvSpPr>
        <p:spPr>
          <a:xfrm>
            <a:off x="621792" y="2061972"/>
            <a:ext cx="7772400" cy="42062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Face Detector (MTCNN) locates and crops facial regions. Frame Preprocessor resizes to 224×224 and normalizes pixel values. Data Augmentor applies transformations for training robustness.</a:t>
            </a:r>
            <a:endParaRPr lang="en-US" sz="1050" dirty="0"/>
          </a:p>
        </p:txBody>
      </p:sp>
      <p:sp>
        <p:nvSpPr>
          <p:cNvPr id="12" name="Shape 10"/>
          <p:cNvSpPr/>
          <p:nvPr/>
        </p:nvSpPr>
        <p:spPr>
          <a:xfrm>
            <a:off x="393192" y="267462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11"/>
          <p:cNvSpPr/>
          <p:nvPr/>
        </p:nvSpPr>
        <p:spPr>
          <a:xfrm>
            <a:off x="393192" y="2674620"/>
            <a:ext cx="64008" cy="822960"/>
          </a:xfrm>
          <a:prstGeom prst="rect">
            <a:avLst/>
          </a:prstGeom>
          <a:solidFill>
            <a:srgbClr val="1E3A5F"/>
          </a:solidFill>
          <a:ln/>
        </p:spPr>
        <p:txBody>
          <a:bodyPr/>
          <a:lstStyle/>
          <a:p>
            <a:endParaRPr lang="en-IN"/>
          </a:p>
        </p:txBody>
      </p:sp>
      <p:sp>
        <p:nvSpPr>
          <p:cNvPr id="14" name="Text 12"/>
          <p:cNvSpPr/>
          <p:nvPr/>
        </p:nvSpPr>
        <p:spPr>
          <a:xfrm>
            <a:off x="621792" y="2720340"/>
            <a:ext cx="7772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Model Layer</a:t>
            </a:r>
            <a:endParaRPr lang="en-US" sz="1400" dirty="0"/>
          </a:p>
        </p:txBody>
      </p:sp>
      <p:sp>
        <p:nvSpPr>
          <p:cNvPr id="15" name="Text 13"/>
          <p:cNvSpPr/>
          <p:nvPr/>
        </p:nvSpPr>
        <p:spPr>
          <a:xfrm>
            <a:off x="621792" y="3022092"/>
            <a:ext cx="7772400" cy="42062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ResNeXt extracts spatial features from individual frames. BiLSTM captures temporal dependencies across frame sequences. Attention Module highlights important frames. Classifier produces the final Authentic/Manipulated prediction.</a:t>
            </a:r>
            <a:endParaRPr lang="en-US" sz="1050" dirty="0"/>
          </a:p>
        </p:txBody>
      </p:sp>
      <p:sp>
        <p:nvSpPr>
          <p:cNvPr id="16" name="Shape 14"/>
          <p:cNvSpPr/>
          <p:nvPr/>
        </p:nvSpPr>
        <p:spPr>
          <a:xfrm>
            <a:off x="393192" y="363474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393192" y="3634740"/>
            <a:ext cx="64008" cy="822960"/>
          </a:xfrm>
          <a:prstGeom prst="rect">
            <a:avLst/>
          </a:prstGeom>
          <a:solidFill>
            <a:srgbClr val="148F77"/>
          </a:solidFill>
          <a:ln/>
        </p:spPr>
        <p:txBody>
          <a:bodyPr/>
          <a:lstStyle/>
          <a:p>
            <a:endParaRPr lang="en-IN"/>
          </a:p>
        </p:txBody>
      </p:sp>
      <p:sp>
        <p:nvSpPr>
          <p:cNvPr id="18" name="Text 16"/>
          <p:cNvSpPr/>
          <p:nvPr/>
        </p:nvSpPr>
        <p:spPr>
          <a:xfrm>
            <a:off x="621792" y="3680460"/>
            <a:ext cx="7772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Output Layer</a:t>
            </a:r>
            <a:endParaRPr lang="en-US" sz="1400" dirty="0"/>
          </a:p>
        </p:txBody>
      </p:sp>
      <p:sp>
        <p:nvSpPr>
          <p:cNvPr id="19" name="Text 17"/>
          <p:cNvSpPr/>
          <p:nvPr/>
        </p:nvSpPr>
        <p:spPr>
          <a:xfrm>
            <a:off x="621792" y="3982212"/>
            <a:ext cx="7772400" cy="420624"/>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Report Generator compiles results with confidence scores. Result Storage archives detection outcomes. Performance Logger tracks accuracy metrics and system performance.</a:t>
            </a:r>
            <a:endParaRPr lang="en-US" sz="1050" dirty="0"/>
          </a:p>
        </p:txBody>
      </p:sp>
      <p:sp>
        <p:nvSpPr>
          <p:cNvPr id="20" name="Text 18"/>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1" name="Text 19"/>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2722123" y="228600"/>
            <a:ext cx="3699753" cy="30759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DEPLOYMENT DIAGRAM</a:t>
            </a:r>
            <a:endParaRPr lang="en-US" sz="2000" dirty="0"/>
          </a:p>
        </p:txBody>
      </p:sp>
      <p:sp>
        <p:nvSpPr>
          <p:cNvPr id="3" name="Shape 1"/>
          <p:cNvSpPr/>
          <p:nvPr/>
        </p:nvSpPr>
        <p:spPr>
          <a:xfrm>
            <a:off x="3172838" y="568616"/>
            <a:ext cx="27432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199" y="722105"/>
            <a:ext cx="822960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dirty="0"/>
          </a:p>
        </p:txBody>
      </p:sp>
      <p:sp>
        <p:nvSpPr>
          <p:cNvPr id="5" name="Shape 3"/>
          <p:cNvSpPr/>
          <p:nvPr/>
        </p:nvSpPr>
        <p:spPr>
          <a:xfrm>
            <a:off x="457199" y="722105"/>
            <a:ext cx="75228" cy="457200"/>
          </a:xfrm>
          <a:prstGeom prst="rect">
            <a:avLst/>
          </a:prstGeom>
          <a:solidFill>
            <a:srgbClr val="148F77"/>
          </a:solidFill>
          <a:ln/>
        </p:spPr>
        <p:txBody>
          <a:bodyPr/>
          <a:lstStyle/>
          <a:p>
            <a:endParaRPr lang="en-IN"/>
          </a:p>
        </p:txBody>
      </p:sp>
      <p:sp>
        <p:nvSpPr>
          <p:cNvPr id="6" name="Text 4"/>
          <p:cNvSpPr/>
          <p:nvPr/>
        </p:nvSpPr>
        <p:spPr>
          <a:xfrm>
            <a:off x="747733" y="716257"/>
            <a:ext cx="7863840" cy="45720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The deployment diagram shows how system components are distributed across physical and virtual hardware nodes in a production environment.</a:t>
            </a:r>
            <a:endParaRPr lang="en-US" sz="1050" dirty="0"/>
          </a:p>
        </p:txBody>
      </p:sp>
      <p:sp>
        <p:nvSpPr>
          <p:cNvPr id="7" name="Shape 5"/>
          <p:cNvSpPr/>
          <p:nvPr/>
        </p:nvSpPr>
        <p:spPr>
          <a:xfrm>
            <a:off x="402077" y="1737360"/>
            <a:ext cx="2524003" cy="1645920"/>
          </a:xfrm>
          <a:prstGeom prst="rect">
            <a:avLst/>
          </a:prstGeom>
          <a:solidFill>
            <a:srgbClr val="FFFFFF"/>
          </a:solidFill>
          <a:ln w="19050">
            <a:solidFill>
              <a:srgbClr val="3B7DD8"/>
            </a:solidFill>
            <a:prstDash val="solid"/>
          </a:ln>
          <a:effectLst>
            <a:outerShdw blurRad="50800" dist="25400" dir="8100000" algn="bl" rotWithShape="0">
              <a:srgbClr val="000000">
                <a:alpha val="8000"/>
              </a:srgbClr>
            </a:outerShdw>
          </a:effectLst>
        </p:spPr>
        <p:txBody>
          <a:bodyPr/>
          <a:lstStyle/>
          <a:p>
            <a:endParaRPr lang="en-IN"/>
          </a:p>
        </p:txBody>
      </p:sp>
      <p:sp>
        <p:nvSpPr>
          <p:cNvPr id="8" name="Shape 6"/>
          <p:cNvSpPr/>
          <p:nvPr/>
        </p:nvSpPr>
        <p:spPr>
          <a:xfrm>
            <a:off x="402077" y="1737360"/>
            <a:ext cx="2524003" cy="297833"/>
          </a:xfrm>
          <a:prstGeom prst="rect">
            <a:avLst/>
          </a:prstGeom>
          <a:solidFill>
            <a:srgbClr val="3B7DD8"/>
          </a:solidFill>
          <a:ln/>
        </p:spPr>
        <p:txBody>
          <a:bodyPr/>
          <a:lstStyle/>
          <a:p>
            <a:endParaRPr lang="en-IN"/>
          </a:p>
        </p:txBody>
      </p:sp>
      <p:sp>
        <p:nvSpPr>
          <p:cNvPr id="9" name="Text 7"/>
          <p:cNvSpPr/>
          <p:nvPr/>
        </p:nvSpPr>
        <p:spPr>
          <a:xfrm>
            <a:off x="497600" y="1737360"/>
            <a:ext cx="2337040" cy="297833"/>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&lt;&lt;Client Device&gt;&gt;</a:t>
            </a:r>
            <a:endParaRPr lang="en-US" sz="1100" dirty="0"/>
          </a:p>
        </p:txBody>
      </p:sp>
      <p:sp>
        <p:nvSpPr>
          <p:cNvPr id="10" name="Shape 8"/>
          <p:cNvSpPr/>
          <p:nvPr/>
        </p:nvSpPr>
        <p:spPr>
          <a:xfrm>
            <a:off x="545362" y="2176272"/>
            <a:ext cx="2243558" cy="211618"/>
          </a:xfrm>
          <a:prstGeom prst="rect">
            <a:avLst/>
          </a:prstGeom>
          <a:solidFill>
            <a:srgbClr val="EBF0F7"/>
          </a:solidFill>
          <a:ln/>
        </p:spPr>
        <p:txBody>
          <a:bodyPr/>
          <a:lstStyle/>
          <a:p>
            <a:endParaRPr lang="en-IN"/>
          </a:p>
        </p:txBody>
      </p:sp>
      <p:sp>
        <p:nvSpPr>
          <p:cNvPr id="11" name="Text 9"/>
          <p:cNvSpPr/>
          <p:nvPr/>
        </p:nvSpPr>
        <p:spPr>
          <a:xfrm>
            <a:off x="593123" y="2176272"/>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Web Browser / App</a:t>
            </a:r>
            <a:endParaRPr lang="en-US" sz="900" dirty="0"/>
          </a:p>
        </p:txBody>
      </p:sp>
      <p:sp>
        <p:nvSpPr>
          <p:cNvPr id="12" name="Shape 10"/>
          <p:cNvSpPr/>
          <p:nvPr/>
        </p:nvSpPr>
        <p:spPr>
          <a:xfrm>
            <a:off x="545362" y="2478024"/>
            <a:ext cx="2243558" cy="211618"/>
          </a:xfrm>
          <a:prstGeom prst="rect">
            <a:avLst/>
          </a:prstGeom>
          <a:solidFill>
            <a:srgbClr val="EBF0F7"/>
          </a:solidFill>
          <a:ln/>
        </p:spPr>
        <p:txBody>
          <a:bodyPr/>
          <a:lstStyle/>
          <a:p>
            <a:endParaRPr lang="en-IN"/>
          </a:p>
        </p:txBody>
      </p:sp>
      <p:sp>
        <p:nvSpPr>
          <p:cNvPr id="13" name="Text 11"/>
          <p:cNvSpPr/>
          <p:nvPr/>
        </p:nvSpPr>
        <p:spPr>
          <a:xfrm>
            <a:off x="593123" y="2478024"/>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Video Upload Module</a:t>
            </a:r>
            <a:endParaRPr lang="en-US" sz="900" dirty="0"/>
          </a:p>
        </p:txBody>
      </p:sp>
      <p:sp>
        <p:nvSpPr>
          <p:cNvPr id="14" name="Shape 12"/>
          <p:cNvSpPr/>
          <p:nvPr/>
        </p:nvSpPr>
        <p:spPr>
          <a:xfrm>
            <a:off x="545362" y="2779776"/>
            <a:ext cx="2243558" cy="211618"/>
          </a:xfrm>
          <a:prstGeom prst="rect">
            <a:avLst/>
          </a:prstGeom>
          <a:solidFill>
            <a:srgbClr val="EBF0F7"/>
          </a:solidFill>
          <a:ln/>
        </p:spPr>
        <p:txBody>
          <a:bodyPr/>
          <a:lstStyle/>
          <a:p>
            <a:endParaRPr lang="en-IN"/>
          </a:p>
        </p:txBody>
      </p:sp>
      <p:sp>
        <p:nvSpPr>
          <p:cNvPr id="15" name="Text 13"/>
          <p:cNvSpPr/>
          <p:nvPr/>
        </p:nvSpPr>
        <p:spPr>
          <a:xfrm>
            <a:off x="593123" y="2779776"/>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Result Display UI</a:t>
            </a:r>
            <a:endParaRPr lang="en-US" sz="900" dirty="0"/>
          </a:p>
        </p:txBody>
      </p:sp>
      <p:sp>
        <p:nvSpPr>
          <p:cNvPr id="16" name="Shape 14"/>
          <p:cNvSpPr/>
          <p:nvPr/>
        </p:nvSpPr>
        <p:spPr>
          <a:xfrm>
            <a:off x="545362" y="3081528"/>
            <a:ext cx="2243558" cy="211618"/>
          </a:xfrm>
          <a:prstGeom prst="rect">
            <a:avLst/>
          </a:prstGeom>
          <a:solidFill>
            <a:srgbClr val="EBF0F7"/>
          </a:solidFill>
          <a:ln/>
        </p:spPr>
        <p:txBody>
          <a:bodyPr/>
          <a:lstStyle/>
          <a:p>
            <a:endParaRPr lang="en-IN"/>
          </a:p>
        </p:txBody>
      </p:sp>
      <p:sp>
        <p:nvSpPr>
          <p:cNvPr id="17" name="Text 15"/>
          <p:cNvSpPr/>
          <p:nvPr/>
        </p:nvSpPr>
        <p:spPr>
          <a:xfrm>
            <a:off x="593123" y="3081528"/>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REST API Client</a:t>
            </a:r>
            <a:endParaRPr lang="en-US" sz="900" dirty="0"/>
          </a:p>
        </p:txBody>
      </p:sp>
      <p:sp>
        <p:nvSpPr>
          <p:cNvPr id="18" name="Shape 16"/>
          <p:cNvSpPr/>
          <p:nvPr/>
        </p:nvSpPr>
        <p:spPr>
          <a:xfrm>
            <a:off x="3282437" y="1528354"/>
            <a:ext cx="2661163" cy="2137084"/>
          </a:xfrm>
          <a:prstGeom prst="rect">
            <a:avLst/>
          </a:prstGeom>
          <a:solidFill>
            <a:srgbClr val="FFFFFF"/>
          </a:solidFill>
          <a:ln w="19050">
            <a:solidFill>
              <a:srgbClr val="148F77"/>
            </a:solidFill>
            <a:prstDash val="solid"/>
          </a:ln>
          <a:effectLst>
            <a:outerShdw blurRad="50800" dist="25400" dir="8100000" algn="bl" rotWithShape="0">
              <a:srgbClr val="000000">
                <a:alpha val="8000"/>
              </a:srgbClr>
            </a:outerShdw>
          </a:effectLst>
        </p:spPr>
        <p:txBody>
          <a:bodyPr/>
          <a:lstStyle/>
          <a:p>
            <a:endParaRPr lang="en-IN"/>
          </a:p>
        </p:txBody>
      </p:sp>
      <p:sp>
        <p:nvSpPr>
          <p:cNvPr id="19" name="Shape 17"/>
          <p:cNvSpPr/>
          <p:nvPr/>
        </p:nvSpPr>
        <p:spPr>
          <a:xfrm>
            <a:off x="3282437" y="1519898"/>
            <a:ext cx="2661163" cy="515295"/>
          </a:xfrm>
          <a:prstGeom prst="rect">
            <a:avLst/>
          </a:prstGeom>
          <a:solidFill>
            <a:srgbClr val="148F77"/>
          </a:solidFill>
          <a:ln/>
        </p:spPr>
        <p:txBody>
          <a:bodyPr/>
          <a:lstStyle/>
          <a:p>
            <a:endParaRPr lang="en-IN"/>
          </a:p>
        </p:txBody>
      </p:sp>
      <p:sp>
        <p:nvSpPr>
          <p:cNvPr id="20" name="Text 18"/>
          <p:cNvSpPr/>
          <p:nvPr/>
        </p:nvSpPr>
        <p:spPr>
          <a:xfrm>
            <a:off x="3377960" y="1554480"/>
            <a:ext cx="2464040" cy="480713"/>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&lt;&lt;Application Server&gt;&gt;</a:t>
            </a:r>
            <a:endParaRPr lang="en-US" sz="1100" dirty="0"/>
          </a:p>
        </p:txBody>
      </p:sp>
      <p:sp>
        <p:nvSpPr>
          <p:cNvPr id="21" name="Shape 19"/>
          <p:cNvSpPr/>
          <p:nvPr/>
        </p:nvSpPr>
        <p:spPr>
          <a:xfrm>
            <a:off x="3425722" y="2046331"/>
            <a:ext cx="2365478" cy="341559"/>
          </a:xfrm>
          <a:prstGeom prst="rect">
            <a:avLst/>
          </a:prstGeom>
          <a:solidFill>
            <a:srgbClr val="EBF0F7"/>
          </a:solidFill>
          <a:ln/>
        </p:spPr>
        <p:txBody>
          <a:bodyPr/>
          <a:lstStyle/>
          <a:p>
            <a:endParaRPr lang="en-IN"/>
          </a:p>
        </p:txBody>
      </p:sp>
      <p:sp>
        <p:nvSpPr>
          <p:cNvPr id="22" name="Text 20"/>
          <p:cNvSpPr/>
          <p:nvPr/>
        </p:nvSpPr>
        <p:spPr>
          <a:xfrm>
            <a:off x="3473483" y="2046331"/>
            <a:ext cx="2266917" cy="341559"/>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Flask / FastAPI</a:t>
            </a:r>
            <a:endParaRPr lang="en-US" sz="900" dirty="0"/>
          </a:p>
        </p:txBody>
      </p:sp>
      <p:sp>
        <p:nvSpPr>
          <p:cNvPr id="23" name="Shape 21"/>
          <p:cNvSpPr/>
          <p:nvPr/>
        </p:nvSpPr>
        <p:spPr>
          <a:xfrm>
            <a:off x="3425722" y="2348083"/>
            <a:ext cx="2365478" cy="341559"/>
          </a:xfrm>
          <a:prstGeom prst="rect">
            <a:avLst/>
          </a:prstGeom>
          <a:solidFill>
            <a:srgbClr val="EBF0F7"/>
          </a:solidFill>
          <a:ln/>
        </p:spPr>
        <p:txBody>
          <a:bodyPr/>
          <a:lstStyle/>
          <a:p>
            <a:endParaRPr lang="en-IN"/>
          </a:p>
        </p:txBody>
      </p:sp>
      <p:sp>
        <p:nvSpPr>
          <p:cNvPr id="24" name="Text 22"/>
          <p:cNvSpPr/>
          <p:nvPr/>
        </p:nvSpPr>
        <p:spPr>
          <a:xfrm>
            <a:off x="3473483" y="2348083"/>
            <a:ext cx="2266917" cy="341559"/>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Preprocessing Engine</a:t>
            </a:r>
            <a:endParaRPr lang="en-US" sz="900" dirty="0"/>
          </a:p>
        </p:txBody>
      </p:sp>
      <p:sp>
        <p:nvSpPr>
          <p:cNvPr id="25" name="Shape 23"/>
          <p:cNvSpPr/>
          <p:nvPr/>
        </p:nvSpPr>
        <p:spPr>
          <a:xfrm>
            <a:off x="3425722" y="2649835"/>
            <a:ext cx="2365478" cy="341559"/>
          </a:xfrm>
          <a:prstGeom prst="rect">
            <a:avLst/>
          </a:prstGeom>
          <a:solidFill>
            <a:srgbClr val="EBF0F7"/>
          </a:solidFill>
          <a:ln/>
        </p:spPr>
        <p:txBody>
          <a:bodyPr/>
          <a:lstStyle/>
          <a:p>
            <a:endParaRPr lang="en-IN"/>
          </a:p>
        </p:txBody>
      </p:sp>
      <p:sp>
        <p:nvSpPr>
          <p:cNvPr id="26" name="Text 24"/>
          <p:cNvSpPr/>
          <p:nvPr/>
        </p:nvSpPr>
        <p:spPr>
          <a:xfrm>
            <a:off x="3473483" y="2649835"/>
            <a:ext cx="2266917" cy="341559"/>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ResNeXt + BiLSTM Model</a:t>
            </a:r>
            <a:endParaRPr lang="en-US" sz="900" dirty="0"/>
          </a:p>
        </p:txBody>
      </p:sp>
      <p:sp>
        <p:nvSpPr>
          <p:cNvPr id="27" name="Shape 25"/>
          <p:cNvSpPr/>
          <p:nvPr/>
        </p:nvSpPr>
        <p:spPr>
          <a:xfrm>
            <a:off x="3425722" y="2951587"/>
            <a:ext cx="2365478" cy="341559"/>
          </a:xfrm>
          <a:prstGeom prst="rect">
            <a:avLst/>
          </a:prstGeom>
          <a:solidFill>
            <a:srgbClr val="EBF0F7"/>
          </a:solidFill>
          <a:ln/>
        </p:spPr>
        <p:txBody>
          <a:bodyPr/>
          <a:lstStyle/>
          <a:p>
            <a:endParaRPr lang="en-IN"/>
          </a:p>
        </p:txBody>
      </p:sp>
      <p:sp>
        <p:nvSpPr>
          <p:cNvPr id="28" name="Text 26"/>
          <p:cNvSpPr/>
          <p:nvPr/>
        </p:nvSpPr>
        <p:spPr>
          <a:xfrm>
            <a:off x="3473483" y="2951587"/>
            <a:ext cx="2266917" cy="341559"/>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Classification Module</a:t>
            </a:r>
            <a:endParaRPr lang="en-US" sz="900" dirty="0"/>
          </a:p>
        </p:txBody>
      </p:sp>
      <p:sp>
        <p:nvSpPr>
          <p:cNvPr id="29" name="Shape 27"/>
          <p:cNvSpPr/>
          <p:nvPr/>
        </p:nvSpPr>
        <p:spPr>
          <a:xfrm>
            <a:off x="3425722" y="3253339"/>
            <a:ext cx="2365478" cy="341559"/>
          </a:xfrm>
          <a:prstGeom prst="rect">
            <a:avLst/>
          </a:prstGeom>
          <a:solidFill>
            <a:srgbClr val="EBF0F7"/>
          </a:solidFill>
          <a:ln/>
        </p:spPr>
        <p:txBody>
          <a:bodyPr/>
          <a:lstStyle/>
          <a:p>
            <a:endParaRPr lang="en-IN"/>
          </a:p>
        </p:txBody>
      </p:sp>
      <p:sp>
        <p:nvSpPr>
          <p:cNvPr id="30" name="Text 28"/>
          <p:cNvSpPr/>
          <p:nvPr/>
        </p:nvSpPr>
        <p:spPr>
          <a:xfrm>
            <a:off x="3473483" y="3253339"/>
            <a:ext cx="2266917" cy="341559"/>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Report Generator</a:t>
            </a:r>
            <a:endParaRPr lang="en-US" sz="900" dirty="0"/>
          </a:p>
        </p:txBody>
      </p:sp>
      <p:sp>
        <p:nvSpPr>
          <p:cNvPr id="33" name="Shape 31"/>
          <p:cNvSpPr/>
          <p:nvPr/>
        </p:nvSpPr>
        <p:spPr>
          <a:xfrm>
            <a:off x="6162796" y="1726257"/>
            <a:ext cx="2524003" cy="1645920"/>
          </a:xfrm>
          <a:prstGeom prst="rect">
            <a:avLst/>
          </a:prstGeom>
          <a:solidFill>
            <a:srgbClr val="FFFFFF"/>
          </a:solidFill>
          <a:ln w="19050">
            <a:solidFill>
              <a:srgbClr val="C0392B"/>
            </a:solidFill>
            <a:prstDash val="solid"/>
          </a:ln>
          <a:effectLst>
            <a:outerShdw blurRad="50800" dist="25400" dir="8100000" algn="bl" rotWithShape="0">
              <a:srgbClr val="000000">
                <a:alpha val="8000"/>
              </a:srgbClr>
            </a:outerShdw>
          </a:effectLst>
        </p:spPr>
        <p:txBody>
          <a:bodyPr/>
          <a:lstStyle/>
          <a:p>
            <a:endParaRPr lang="en-IN"/>
          </a:p>
        </p:txBody>
      </p:sp>
      <p:sp>
        <p:nvSpPr>
          <p:cNvPr id="34" name="Shape 32"/>
          <p:cNvSpPr/>
          <p:nvPr/>
        </p:nvSpPr>
        <p:spPr>
          <a:xfrm>
            <a:off x="6162797" y="1737360"/>
            <a:ext cx="2524003" cy="297833"/>
          </a:xfrm>
          <a:prstGeom prst="rect">
            <a:avLst/>
          </a:prstGeom>
          <a:solidFill>
            <a:srgbClr val="C0392B"/>
          </a:solidFill>
          <a:ln/>
        </p:spPr>
        <p:txBody>
          <a:bodyPr/>
          <a:lstStyle/>
          <a:p>
            <a:endParaRPr lang="en-IN"/>
          </a:p>
        </p:txBody>
      </p:sp>
      <p:sp>
        <p:nvSpPr>
          <p:cNvPr id="35" name="Text 33"/>
          <p:cNvSpPr/>
          <p:nvPr/>
        </p:nvSpPr>
        <p:spPr>
          <a:xfrm>
            <a:off x="6258320" y="1737360"/>
            <a:ext cx="2337040" cy="297833"/>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&lt;&lt;GPU Server / Cloud&gt;&gt;</a:t>
            </a:r>
            <a:endParaRPr lang="en-US" sz="1100" dirty="0"/>
          </a:p>
        </p:txBody>
      </p:sp>
      <p:sp>
        <p:nvSpPr>
          <p:cNvPr id="38" name="Shape 36"/>
          <p:cNvSpPr/>
          <p:nvPr/>
        </p:nvSpPr>
        <p:spPr>
          <a:xfrm>
            <a:off x="6309360" y="2176272"/>
            <a:ext cx="2243558" cy="211618"/>
          </a:xfrm>
          <a:prstGeom prst="rect">
            <a:avLst/>
          </a:prstGeom>
          <a:solidFill>
            <a:srgbClr val="EBF0F7"/>
          </a:solidFill>
          <a:ln/>
        </p:spPr>
        <p:txBody>
          <a:bodyPr/>
          <a:lstStyle/>
          <a:p>
            <a:endParaRPr lang="en-IN"/>
          </a:p>
        </p:txBody>
      </p:sp>
      <p:sp>
        <p:nvSpPr>
          <p:cNvPr id="39" name="Text 37"/>
          <p:cNvSpPr/>
          <p:nvPr/>
        </p:nvSpPr>
        <p:spPr>
          <a:xfrm>
            <a:off x="6349758" y="2193907"/>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Model Training Pipeline</a:t>
            </a:r>
            <a:endParaRPr lang="en-US" sz="900" dirty="0"/>
          </a:p>
        </p:txBody>
      </p:sp>
      <p:sp>
        <p:nvSpPr>
          <p:cNvPr id="40" name="Shape 38"/>
          <p:cNvSpPr/>
          <p:nvPr/>
        </p:nvSpPr>
        <p:spPr>
          <a:xfrm>
            <a:off x="6306082" y="2552809"/>
            <a:ext cx="2243558" cy="211618"/>
          </a:xfrm>
          <a:prstGeom prst="rect">
            <a:avLst/>
          </a:prstGeom>
          <a:solidFill>
            <a:srgbClr val="EBF0F7"/>
          </a:solidFill>
          <a:ln/>
        </p:spPr>
        <p:txBody>
          <a:bodyPr/>
          <a:lstStyle/>
          <a:p>
            <a:endParaRPr lang="en-IN"/>
          </a:p>
        </p:txBody>
      </p:sp>
      <p:sp>
        <p:nvSpPr>
          <p:cNvPr id="41" name="Text 39"/>
          <p:cNvSpPr/>
          <p:nvPr/>
        </p:nvSpPr>
        <p:spPr>
          <a:xfrm>
            <a:off x="6349757" y="2572308"/>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Google Colab / AWS</a:t>
            </a:r>
            <a:endParaRPr lang="en-US" sz="900" dirty="0"/>
          </a:p>
        </p:txBody>
      </p:sp>
      <p:sp>
        <p:nvSpPr>
          <p:cNvPr id="42" name="Shape 40"/>
          <p:cNvSpPr/>
          <p:nvPr/>
        </p:nvSpPr>
        <p:spPr>
          <a:xfrm>
            <a:off x="6306082" y="2930652"/>
            <a:ext cx="2243558" cy="211618"/>
          </a:xfrm>
          <a:prstGeom prst="rect">
            <a:avLst/>
          </a:prstGeom>
          <a:solidFill>
            <a:srgbClr val="EBF0F7"/>
          </a:solidFill>
          <a:ln/>
        </p:spPr>
        <p:txBody>
          <a:bodyPr/>
          <a:lstStyle/>
          <a:p>
            <a:endParaRPr lang="en-IN"/>
          </a:p>
        </p:txBody>
      </p:sp>
      <p:sp>
        <p:nvSpPr>
          <p:cNvPr id="43" name="Text 41"/>
          <p:cNvSpPr/>
          <p:nvPr/>
        </p:nvSpPr>
        <p:spPr>
          <a:xfrm>
            <a:off x="6353843" y="2951587"/>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Model Storage</a:t>
            </a:r>
            <a:endParaRPr lang="en-US" sz="900" dirty="0"/>
          </a:p>
        </p:txBody>
      </p:sp>
      <p:sp>
        <p:nvSpPr>
          <p:cNvPr id="44" name="Shape 42"/>
          <p:cNvSpPr/>
          <p:nvPr/>
        </p:nvSpPr>
        <p:spPr>
          <a:xfrm>
            <a:off x="3282437" y="4050792"/>
            <a:ext cx="2524003" cy="929770"/>
          </a:xfrm>
          <a:prstGeom prst="rect">
            <a:avLst/>
          </a:prstGeom>
          <a:solidFill>
            <a:srgbClr val="FFFFFF"/>
          </a:solidFill>
          <a:ln w="19050">
            <a:solidFill>
              <a:srgbClr val="1E3A5F"/>
            </a:solidFill>
            <a:prstDash val="solid"/>
          </a:ln>
          <a:effectLst>
            <a:outerShdw blurRad="50800" dist="25400" dir="8100000" algn="bl" rotWithShape="0">
              <a:srgbClr val="000000">
                <a:alpha val="8000"/>
              </a:srgbClr>
            </a:outerShdw>
          </a:effectLst>
        </p:spPr>
        <p:txBody>
          <a:bodyPr/>
          <a:lstStyle/>
          <a:p>
            <a:endParaRPr lang="en-IN"/>
          </a:p>
        </p:txBody>
      </p:sp>
      <p:sp>
        <p:nvSpPr>
          <p:cNvPr id="45" name="Shape 43"/>
          <p:cNvSpPr/>
          <p:nvPr/>
        </p:nvSpPr>
        <p:spPr>
          <a:xfrm>
            <a:off x="3282437" y="3977640"/>
            <a:ext cx="2524003" cy="297833"/>
          </a:xfrm>
          <a:prstGeom prst="rect">
            <a:avLst/>
          </a:prstGeom>
          <a:solidFill>
            <a:srgbClr val="1E3A5F"/>
          </a:solidFill>
          <a:ln/>
        </p:spPr>
        <p:txBody>
          <a:bodyPr/>
          <a:lstStyle/>
          <a:p>
            <a:endParaRPr lang="en-IN"/>
          </a:p>
        </p:txBody>
      </p:sp>
      <p:sp>
        <p:nvSpPr>
          <p:cNvPr id="46" name="Text 44"/>
          <p:cNvSpPr/>
          <p:nvPr/>
        </p:nvSpPr>
        <p:spPr>
          <a:xfrm>
            <a:off x="3377960" y="3977640"/>
            <a:ext cx="2337040" cy="297833"/>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&lt;&lt;Database Server&gt;&gt;</a:t>
            </a:r>
            <a:endParaRPr lang="en-US" sz="1100" dirty="0"/>
          </a:p>
        </p:txBody>
      </p:sp>
      <p:sp>
        <p:nvSpPr>
          <p:cNvPr id="47" name="Shape 45"/>
          <p:cNvSpPr/>
          <p:nvPr/>
        </p:nvSpPr>
        <p:spPr>
          <a:xfrm>
            <a:off x="3425722" y="4416552"/>
            <a:ext cx="2243558" cy="211618"/>
          </a:xfrm>
          <a:prstGeom prst="rect">
            <a:avLst/>
          </a:prstGeom>
          <a:solidFill>
            <a:srgbClr val="EBF0F7"/>
          </a:solidFill>
          <a:ln/>
        </p:spPr>
        <p:txBody>
          <a:bodyPr/>
          <a:lstStyle/>
          <a:p>
            <a:endParaRPr lang="en-IN"/>
          </a:p>
        </p:txBody>
      </p:sp>
      <p:sp>
        <p:nvSpPr>
          <p:cNvPr id="48" name="Text 46"/>
          <p:cNvSpPr/>
          <p:nvPr/>
        </p:nvSpPr>
        <p:spPr>
          <a:xfrm>
            <a:off x="3473483" y="4416552"/>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Video Metadata DB</a:t>
            </a:r>
            <a:endParaRPr lang="en-US" sz="900" dirty="0"/>
          </a:p>
        </p:txBody>
      </p:sp>
      <p:sp>
        <p:nvSpPr>
          <p:cNvPr id="49" name="Shape 47"/>
          <p:cNvSpPr/>
          <p:nvPr/>
        </p:nvSpPr>
        <p:spPr>
          <a:xfrm>
            <a:off x="3425722" y="4718304"/>
            <a:ext cx="2243558" cy="211618"/>
          </a:xfrm>
          <a:prstGeom prst="rect">
            <a:avLst/>
          </a:prstGeom>
          <a:solidFill>
            <a:srgbClr val="EBF0F7"/>
          </a:solidFill>
          <a:ln/>
        </p:spPr>
        <p:txBody>
          <a:bodyPr/>
          <a:lstStyle/>
          <a:p>
            <a:endParaRPr lang="en-IN"/>
          </a:p>
        </p:txBody>
      </p:sp>
      <p:sp>
        <p:nvSpPr>
          <p:cNvPr id="50" name="Text 48"/>
          <p:cNvSpPr/>
          <p:nvPr/>
        </p:nvSpPr>
        <p:spPr>
          <a:xfrm>
            <a:off x="3473483" y="4718304"/>
            <a:ext cx="2150077" cy="211618"/>
          </a:xfrm>
          <a:prstGeom prst="rect">
            <a:avLst/>
          </a:prstGeom>
          <a:noFill/>
          <a:ln/>
        </p:spPr>
        <p:txBody>
          <a:bodyPr wrap="square" lIns="0" tIns="0" rIns="0" bIns="0" rtlCol="0" anchor="ctr"/>
          <a:lstStyle/>
          <a:p>
            <a:pPr marL="0" indent="0">
              <a:buNone/>
            </a:pPr>
            <a:r>
              <a:rPr lang="en-US" sz="900" dirty="0">
                <a:solidFill>
                  <a:srgbClr val="1C1C1C"/>
                </a:solidFill>
                <a:latin typeface="Calibri" pitchFamily="34" charset="0"/>
                <a:ea typeface="Calibri" pitchFamily="34" charset="-122"/>
                <a:cs typeface="Calibri" pitchFamily="34" charset="-120"/>
              </a:rPr>
              <a:t>Detection Logs &amp; Reports</a:t>
            </a:r>
            <a:endParaRPr lang="en-US" sz="900" dirty="0"/>
          </a:p>
        </p:txBody>
      </p:sp>
      <p:sp>
        <p:nvSpPr>
          <p:cNvPr id="51" name="Shape 49"/>
          <p:cNvSpPr/>
          <p:nvPr/>
        </p:nvSpPr>
        <p:spPr>
          <a:xfrm>
            <a:off x="2916894" y="2697480"/>
            <a:ext cx="365544" cy="0"/>
          </a:xfrm>
          <a:prstGeom prst="line">
            <a:avLst/>
          </a:prstGeom>
          <a:noFill/>
          <a:ln w="19050">
            <a:solidFill>
              <a:srgbClr val="5D6D7E"/>
            </a:solidFill>
            <a:prstDash val="dash"/>
          </a:ln>
        </p:spPr>
        <p:txBody>
          <a:bodyPr/>
          <a:lstStyle/>
          <a:p>
            <a:endParaRPr lang="en-IN"/>
          </a:p>
        </p:txBody>
      </p:sp>
      <p:sp>
        <p:nvSpPr>
          <p:cNvPr id="52" name="Shape 50"/>
          <p:cNvSpPr/>
          <p:nvPr/>
        </p:nvSpPr>
        <p:spPr>
          <a:xfrm>
            <a:off x="5959596" y="2689642"/>
            <a:ext cx="258324" cy="7838"/>
          </a:xfrm>
          <a:prstGeom prst="line">
            <a:avLst/>
          </a:prstGeom>
          <a:noFill/>
          <a:ln w="19050">
            <a:solidFill>
              <a:srgbClr val="5D6D7E"/>
            </a:solidFill>
            <a:prstDash val="dash"/>
          </a:ln>
        </p:spPr>
        <p:txBody>
          <a:bodyPr/>
          <a:lstStyle/>
          <a:p>
            <a:endParaRPr lang="en-IN"/>
          </a:p>
        </p:txBody>
      </p:sp>
      <p:sp>
        <p:nvSpPr>
          <p:cNvPr id="53" name="Shape 51"/>
          <p:cNvSpPr/>
          <p:nvPr/>
        </p:nvSpPr>
        <p:spPr>
          <a:xfrm>
            <a:off x="4572000" y="3665438"/>
            <a:ext cx="0" cy="292608"/>
          </a:xfrm>
          <a:prstGeom prst="line">
            <a:avLst/>
          </a:prstGeom>
          <a:noFill/>
          <a:ln w="19050">
            <a:solidFill>
              <a:srgbClr val="5D6D7E"/>
            </a:solidFill>
            <a:prstDash val="dash"/>
          </a:ln>
        </p:spPr>
        <p:txBody>
          <a:bodyPr/>
          <a:lstStyle/>
          <a:p>
            <a:endParaRPr lang="en-IN"/>
          </a:p>
        </p:txBody>
      </p:sp>
      <p:sp>
        <p:nvSpPr>
          <p:cNvPr id="54" name="Text 52"/>
          <p:cNvSpPr/>
          <p:nvPr/>
        </p:nvSpPr>
        <p:spPr>
          <a:xfrm>
            <a:off x="2868110" y="2423160"/>
            <a:ext cx="560890" cy="195943"/>
          </a:xfrm>
          <a:prstGeom prst="rect">
            <a:avLst/>
          </a:prstGeom>
          <a:noFill/>
          <a:ln/>
        </p:spPr>
        <p:txBody>
          <a:bodyPr wrap="square" rtlCol="0" anchor="ctr"/>
          <a:lstStyle/>
          <a:p>
            <a:pPr marL="0" indent="0" algn="ctr">
              <a:buNone/>
            </a:pPr>
            <a:r>
              <a:rPr lang="en-US" sz="700" dirty="0">
                <a:solidFill>
                  <a:srgbClr val="5D6D7E"/>
                </a:solidFill>
                <a:latin typeface="Calibri" pitchFamily="34" charset="0"/>
                <a:ea typeface="Calibri" pitchFamily="34" charset="-122"/>
                <a:cs typeface="Calibri" pitchFamily="34" charset="-120"/>
              </a:rPr>
              <a:t>HTTPS</a:t>
            </a:r>
            <a:endParaRPr lang="en-US" sz="700" dirty="0"/>
          </a:p>
        </p:txBody>
      </p:sp>
      <p:sp>
        <p:nvSpPr>
          <p:cNvPr id="55" name="Text 53"/>
          <p:cNvSpPr/>
          <p:nvPr/>
        </p:nvSpPr>
        <p:spPr>
          <a:xfrm>
            <a:off x="5748470" y="2423160"/>
            <a:ext cx="560890" cy="195943"/>
          </a:xfrm>
          <a:prstGeom prst="rect">
            <a:avLst/>
          </a:prstGeom>
          <a:noFill/>
          <a:ln/>
        </p:spPr>
        <p:txBody>
          <a:bodyPr wrap="square" rtlCol="0" anchor="ctr"/>
          <a:lstStyle/>
          <a:p>
            <a:pPr marL="0" indent="0" algn="ctr">
              <a:buNone/>
            </a:pPr>
            <a:r>
              <a:rPr lang="en-US" sz="700" dirty="0">
                <a:solidFill>
                  <a:srgbClr val="5D6D7E"/>
                </a:solidFill>
                <a:latin typeface="Calibri" pitchFamily="34" charset="0"/>
                <a:ea typeface="Calibri" pitchFamily="34" charset="-122"/>
                <a:cs typeface="Calibri" pitchFamily="34" charset="-120"/>
              </a:rPr>
              <a:t>TCP/IP</a:t>
            </a:r>
            <a:endParaRPr lang="en-US" sz="700" dirty="0"/>
          </a:p>
        </p:txBody>
      </p:sp>
      <p:sp>
        <p:nvSpPr>
          <p:cNvPr id="56" name="Text 54"/>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57" name="Text 55"/>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114300"/>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DEPLOYMENT DIAGRAM – DESCRIPTION</a:t>
            </a:r>
            <a:endParaRPr lang="en-US" sz="2000" dirty="0"/>
          </a:p>
        </p:txBody>
      </p:sp>
      <p:sp>
        <p:nvSpPr>
          <p:cNvPr id="3" name="Shape 1"/>
          <p:cNvSpPr/>
          <p:nvPr/>
        </p:nvSpPr>
        <p:spPr>
          <a:xfrm>
            <a:off x="2587557" y="624678"/>
            <a:ext cx="3657600" cy="0"/>
          </a:xfrm>
          <a:prstGeom prst="line">
            <a:avLst/>
          </a:prstGeom>
          <a:noFill/>
          <a:ln w="25400">
            <a:solidFill>
              <a:srgbClr val="C0392B"/>
            </a:solidFill>
            <a:prstDash val="solid"/>
          </a:ln>
        </p:spPr>
        <p:txBody>
          <a:bodyPr/>
          <a:lstStyle/>
          <a:p>
            <a:endParaRPr lang="en-IN"/>
          </a:p>
        </p:txBody>
      </p:sp>
      <p:sp>
        <p:nvSpPr>
          <p:cNvPr id="4" name="Shape 2"/>
          <p:cNvSpPr/>
          <p:nvPr/>
        </p:nvSpPr>
        <p:spPr>
          <a:xfrm>
            <a:off x="411804" y="860575"/>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11804" y="860575"/>
            <a:ext cx="64008" cy="822960"/>
          </a:xfrm>
          <a:prstGeom prst="rect">
            <a:avLst/>
          </a:prstGeom>
          <a:solidFill>
            <a:srgbClr val="1E3A5F"/>
          </a:solidFill>
          <a:ln/>
        </p:spPr>
        <p:txBody>
          <a:bodyPr/>
          <a:lstStyle/>
          <a:p>
            <a:endParaRPr lang="en-IN"/>
          </a:p>
        </p:txBody>
      </p:sp>
      <p:sp>
        <p:nvSpPr>
          <p:cNvPr id="6" name="Text 4"/>
          <p:cNvSpPr/>
          <p:nvPr/>
        </p:nvSpPr>
        <p:spPr>
          <a:xfrm>
            <a:off x="640404" y="906295"/>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Client Device</a:t>
            </a:r>
            <a:endParaRPr lang="en-US" sz="1400" dirty="0"/>
          </a:p>
        </p:txBody>
      </p:sp>
      <p:sp>
        <p:nvSpPr>
          <p:cNvPr id="7" name="Text 5"/>
          <p:cNvSpPr/>
          <p:nvPr/>
        </p:nvSpPr>
        <p:spPr>
          <a:xfrm>
            <a:off x="640404" y="1226335"/>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End users access the system via a web browser or mobile app. They upload videos, initiate analysis, and view results through the user interface. Communication uses HTTPS protocol.</a:t>
            </a:r>
            <a:endParaRPr lang="en-US" sz="1050" dirty="0"/>
          </a:p>
        </p:txBody>
      </p:sp>
      <p:sp>
        <p:nvSpPr>
          <p:cNvPr id="8" name="Shape 6"/>
          <p:cNvSpPr/>
          <p:nvPr/>
        </p:nvSpPr>
        <p:spPr>
          <a:xfrm>
            <a:off x="411804" y="1820695"/>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411804" y="1820695"/>
            <a:ext cx="64008" cy="822960"/>
          </a:xfrm>
          <a:prstGeom prst="rect">
            <a:avLst/>
          </a:prstGeom>
          <a:solidFill>
            <a:srgbClr val="148F77"/>
          </a:solidFill>
          <a:ln/>
        </p:spPr>
        <p:txBody>
          <a:bodyPr/>
          <a:lstStyle/>
          <a:p>
            <a:endParaRPr lang="en-IN"/>
          </a:p>
        </p:txBody>
      </p:sp>
      <p:sp>
        <p:nvSpPr>
          <p:cNvPr id="10" name="Text 8"/>
          <p:cNvSpPr/>
          <p:nvPr/>
        </p:nvSpPr>
        <p:spPr>
          <a:xfrm>
            <a:off x="640404" y="1866415"/>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Application Server (Flask / FastAPI)</a:t>
            </a:r>
            <a:endParaRPr lang="en-US" sz="1400" dirty="0"/>
          </a:p>
        </p:txBody>
      </p:sp>
      <p:sp>
        <p:nvSpPr>
          <p:cNvPr id="11" name="Text 9"/>
          <p:cNvSpPr/>
          <p:nvPr/>
        </p:nvSpPr>
        <p:spPr>
          <a:xfrm>
            <a:off x="640404" y="2186455"/>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Hosts the core detection pipeline including preprocessing, ResNeXt + BiLSTM model inference, classification, and report generation. Handles API requests and manages user authentication.</a:t>
            </a:r>
            <a:endParaRPr lang="en-US" sz="1050" dirty="0"/>
          </a:p>
        </p:txBody>
      </p:sp>
      <p:sp>
        <p:nvSpPr>
          <p:cNvPr id="12" name="Shape 10"/>
          <p:cNvSpPr/>
          <p:nvPr/>
        </p:nvSpPr>
        <p:spPr>
          <a:xfrm>
            <a:off x="411804" y="2780815"/>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11"/>
          <p:cNvSpPr/>
          <p:nvPr/>
        </p:nvSpPr>
        <p:spPr>
          <a:xfrm>
            <a:off x="411804" y="2780815"/>
            <a:ext cx="64008" cy="822960"/>
          </a:xfrm>
          <a:prstGeom prst="rect">
            <a:avLst/>
          </a:prstGeom>
          <a:solidFill>
            <a:srgbClr val="1E3A5F"/>
          </a:solidFill>
          <a:ln/>
        </p:spPr>
        <p:txBody>
          <a:bodyPr/>
          <a:lstStyle/>
          <a:p>
            <a:endParaRPr lang="en-IN"/>
          </a:p>
        </p:txBody>
      </p:sp>
      <p:sp>
        <p:nvSpPr>
          <p:cNvPr id="14" name="Text 12"/>
          <p:cNvSpPr/>
          <p:nvPr/>
        </p:nvSpPr>
        <p:spPr>
          <a:xfrm>
            <a:off x="640404" y="2826535"/>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GPU Server / Cloud (Google Colab / AWS)</a:t>
            </a:r>
            <a:endParaRPr lang="en-US" sz="1400" dirty="0"/>
          </a:p>
        </p:txBody>
      </p:sp>
      <p:sp>
        <p:nvSpPr>
          <p:cNvPr id="15" name="Text 13"/>
          <p:cNvSpPr/>
          <p:nvPr/>
        </p:nvSpPr>
        <p:spPr>
          <a:xfrm>
            <a:off x="640404" y="3146575"/>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Provides GPU-accelerated training using NVIDIA GPUs (Tesla V100 / GTX 1660+). Trained models are stored and versioned. Supports batch training on large datasets.</a:t>
            </a:r>
            <a:endParaRPr lang="en-US" sz="1050" dirty="0"/>
          </a:p>
        </p:txBody>
      </p:sp>
      <p:sp>
        <p:nvSpPr>
          <p:cNvPr id="16" name="Shape 14"/>
          <p:cNvSpPr/>
          <p:nvPr/>
        </p:nvSpPr>
        <p:spPr>
          <a:xfrm>
            <a:off x="411804" y="3740935"/>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411804" y="3740935"/>
            <a:ext cx="64008" cy="822960"/>
          </a:xfrm>
          <a:prstGeom prst="rect">
            <a:avLst/>
          </a:prstGeom>
          <a:solidFill>
            <a:srgbClr val="148F77"/>
          </a:solidFill>
          <a:ln/>
        </p:spPr>
        <p:txBody>
          <a:bodyPr/>
          <a:lstStyle/>
          <a:p>
            <a:endParaRPr lang="en-IN"/>
          </a:p>
        </p:txBody>
      </p:sp>
      <p:sp>
        <p:nvSpPr>
          <p:cNvPr id="18" name="Text 16"/>
          <p:cNvSpPr/>
          <p:nvPr/>
        </p:nvSpPr>
        <p:spPr>
          <a:xfrm>
            <a:off x="640404" y="3786655"/>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Database Server</a:t>
            </a:r>
            <a:endParaRPr lang="en-US" sz="1400" dirty="0"/>
          </a:p>
        </p:txBody>
      </p:sp>
      <p:sp>
        <p:nvSpPr>
          <p:cNvPr id="19" name="Text 17"/>
          <p:cNvSpPr/>
          <p:nvPr/>
        </p:nvSpPr>
        <p:spPr>
          <a:xfrm>
            <a:off x="640404" y="4106695"/>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Stores video metadata, detection results, performance logs, and system activity reports. Supports structured querying for audits and system analytics.</a:t>
            </a:r>
            <a:endParaRPr lang="en-US" sz="1050" dirty="0"/>
          </a:p>
        </p:txBody>
      </p:sp>
      <p:sp>
        <p:nvSpPr>
          <p:cNvPr id="20" name="Text 18"/>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1" name="Text 19"/>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89204" y="-77692"/>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NP-COMPLETENESS</a:t>
            </a:r>
            <a:endParaRPr lang="en-US" sz="2000" dirty="0"/>
          </a:p>
        </p:txBody>
      </p:sp>
      <p:sp>
        <p:nvSpPr>
          <p:cNvPr id="3" name="Shape 1"/>
          <p:cNvSpPr/>
          <p:nvPr/>
        </p:nvSpPr>
        <p:spPr>
          <a:xfrm>
            <a:off x="3422288" y="428017"/>
            <a:ext cx="2299423" cy="0"/>
          </a:xfrm>
          <a:prstGeom prst="line">
            <a:avLst/>
          </a:prstGeom>
          <a:noFill/>
          <a:ln w="25400">
            <a:solidFill>
              <a:srgbClr val="C0392B"/>
            </a:solidFill>
            <a:prstDash val="solid"/>
          </a:ln>
        </p:spPr>
        <p:txBody>
          <a:bodyPr/>
          <a:lstStyle/>
          <a:p>
            <a:endParaRPr lang="en-IN"/>
          </a:p>
        </p:txBody>
      </p:sp>
      <p:sp>
        <p:nvSpPr>
          <p:cNvPr id="4" name="Shape 2"/>
          <p:cNvSpPr/>
          <p:nvPr/>
        </p:nvSpPr>
        <p:spPr>
          <a:xfrm>
            <a:off x="457200" y="694944"/>
            <a:ext cx="8229600" cy="594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57200" y="694944"/>
            <a:ext cx="64008" cy="594360"/>
          </a:xfrm>
          <a:prstGeom prst="rect">
            <a:avLst/>
          </a:prstGeom>
          <a:solidFill>
            <a:srgbClr val="148F77"/>
          </a:solidFill>
          <a:ln/>
        </p:spPr>
        <p:txBody>
          <a:bodyPr/>
          <a:lstStyle/>
          <a:p>
            <a:endParaRPr lang="en-IN"/>
          </a:p>
        </p:txBody>
      </p:sp>
      <p:sp>
        <p:nvSpPr>
          <p:cNvPr id="6" name="Text 4"/>
          <p:cNvSpPr/>
          <p:nvPr/>
        </p:nvSpPr>
        <p:spPr>
          <a:xfrm>
            <a:off x="685800" y="694944"/>
            <a:ext cx="7863840" cy="59436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The NP-Completeness analysis evaluates the computational complexity of the deepfake detection problem and demonstrates how the proposed framework handles inherently complex sub-problems using efficient heuristic and learning-based approaches.</a:t>
            </a:r>
            <a:endParaRPr lang="en-US" sz="1050" dirty="0"/>
          </a:p>
        </p:txBody>
      </p:sp>
      <p:sp>
        <p:nvSpPr>
          <p:cNvPr id="7" name="Shape 5"/>
          <p:cNvSpPr/>
          <p:nvPr/>
        </p:nvSpPr>
        <p:spPr>
          <a:xfrm>
            <a:off x="477109" y="1600200"/>
            <a:ext cx="3931920" cy="24688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8" name="Shape 6"/>
          <p:cNvSpPr/>
          <p:nvPr/>
        </p:nvSpPr>
        <p:spPr>
          <a:xfrm>
            <a:off x="477109" y="1600200"/>
            <a:ext cx="3931920" cy="365760"/>
          </a:xfrm>
          <a:prstGeom prst="rect">
            <a:avLst/>
          </a:prstGeom>
          <a:solidFill>
            <a:srgbClr val="27AE60"/>
          </a:solidFill>
          <a:ln/>
        </p:spPr>
        <p:txBody>
          <a:bodyPr/>
          <a:lstStyle/>
          <a:p>
            <a:endParaRPr lang="en-IN"/>
          </a:p>
        </p:txBody>
      </p:sp>
      <p:sp>
        <p:nvSpPr>
          <p:cNvPr id="9" name="Text 7"/>
          <p:cNvSpPr/>
          <p:nvPr/>
        </p:nvSpPr>
        <p:spPr>
          <a:xfrm>
            <a:off x="477109" y="1600200"/>
            <a:ext cx="393192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Polynomial-Time Tasks (P)</a:t>
            </a:r>
            <a:endParaRPr lang="en-US" sz="1300" dirty="0"/>
          </a:p>
        </p:txBody>
      </p:sp>
      <p:pic>
        <p:nvPicPr>
          <p:cNvPr id="10" name="Image 0" descr="preencoded.png"/>
          <p:cNvPicPr>
            <a:picLocks noChangeAspect="1"/>
          </p:cNvPicPr>
          <p:nvPr/>
        </p:nvPicPr>
        <p:blipFill>
          <a:blip r:embed="rId3"/>
          <a:stretch>
            <a:fillRect/>
          </a:stretch>
        </p:blipFill>
        <p:spPr>
          <a:xfrm>
            <a:off x="659989" y="2148840"/>
            <a:ext cx="182880" cy="182880"/>
          </a:xfrm>
          <a:prstGeom prst="rect">
            <a:avLst/>
          </a:prstGeom>
        </p:spPr>
      </p:pic>
      <p:sp>
        <p:nvSpPr>
          <p:cNvPr id="11" name="Text 8"/>
          <p:cNvSpPr/>
          <p:nvPr/>
        </p:nvSpPr>
        <p:spPr>
          <a:xfrm>
            <a:off x="934309" y="2103120"/>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Face detection and preprocessing</a:t>
            </a:r>
            <a:endParaRPr lang="en-US" sz="1050" dirty="0"/>
          </a:p>
        </p:txBody>
      </p:sp>
      <p:pic>
        <p:nvPicPr>
          <p:cNvPr id="12" name="Image 1" descr="preencoded.png"/>
          <p:cNvPicPr>
            <a:picLocks noChangeAspect="1"/>
          </p:cNvPicPr>
          <p:nvPr/>
        </p:nvPicPr>
        <p:blipFill>
          <a:blip r:embed="rId3"/>
          <a:stretch>
            <a:fillRect/>
          </a:stretch>
        </p:blipFill>
        <p:spPr>
          <a:xfrm>
            <a:off x="659989" y="2496312"/>
            <a:ext cx="182880" cy="182880"/>
          </a:xfrm>
          <a:prstGeom prst="rect">
            <a:avLst/>
          </a:prstGeom>
        </p:spPr>
      </p:pic>
      <p:sp>
        <p:nvSpPr>
          <p:cNvPr id="13" name="Text 9"/>
          <p:cNvSpPr/>
          <p:nvPr/>
        </p:nvSpPr>
        <p:spPr>
          <a:xfrm>
            <a:off x="934309" y="2450592"/>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Frame resizing and normalization</a:t>
            </a:r>
            <a:endParaRPr lang="en-US" sz="1050" dirty="0"/>
          </a:p>
        </p:txBody>
      </p:sp>
      <p:pic>
        <p:nvPicPr>
          <p:cNvPr id="14" name="Image 2" descr="preencoded.png"/>
          <p:cNvPicPr>
            <a:picLocks noChangeAspect="1"/>
          </p:cNvPicPr>
          <p:nvPr/>
        </p:nvPicPr>
        <p:blipFill>
          <a:blip r:embed="rId3"/>
          <a:stretch>
            <a:fillRect/>
          </a:stretch>
        </p:blipFill>
        <p:spPr>
          <a:xfrm>
            <a:off x="659989" y="2843784"/>
            <a:ext cx="182880" cy="182880"/>
          </a:xfrm>
          <a:prstGeom prst="rect">
            <a:avLst/>
          </a:prstGeom>
        </p:spPr>
      </p:pic>
      <p:sp>
        <p:nvSpPr>
          <p:cNvPr id="15" name="Text 10"/>
          <p:cNvSpPr/>
          <p:nvPr/>
        </p:nvSpPr>
        <p:spPr>
          <a:xfrm>
            <a:off x="934309" y="2798064"/>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CNN forward pass (ResNeXt)</a:t>
            </a:r>
            <a:endParaRPr lang="en-US" sz="1050" dirty="0"/>
          </a:p>
        </p:txBody>
      </p:sp>
      <p:pic>
        <p:nvPicPr>
          <p:cNvPr id="16" name="Image 3" descr="preencoded.png"/>
          <p:cNvPicPr>
            <a:picLocks noChangeAspect="1"/>
          </p:cNvPicPr>
          <p:nvPr/>
        </p:nvPicPr>
        <p:blipFill>
          <a:blip r:embed="rId3"/>
          <a:stretch>
            <a:fillRect/>
          </a:stretch>
        </p:blipFill>
        <p:spPr>
          <a:xfrm>
            <a:off x="659989" y="3191256"/>
            <a:ext cx="182880" cy="182880"/>
          </a:xfrm>
          <a:prstGeom prst="rect">
            <a:avLst/>
          </a:prstGeom>
        </p:spPr>
      </p:pic>
      <p:sp>
        <p:nvSpPr>
          <p:cNvPr id="17" name="Text 11"/>
          <p:cNvSpPr/>
          <p:nvPr/>
        </p:nvSpPr>
        <p:spPr>
          <a:xfrm>
            <a:off x="934309" y="3145536"/>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BiLSTM temporal sequence processing</a:t>
            </a:r>
            <a:endParaRPr lang="en-US" sz="1050" dirty="0"/>
          </a:p>
        </p:txBody>
      </p:sp>
      <p:pic>
        <p:nvPicPr>
          <p:cNvPr id="18" name="Image 4" descr="preencoded.png"/>
          <p:cNvPicPr>
            <a:picLocks noChangeAspect="1"/>
          </p:cNvPicPr>
          <p:nvPr/>
        </p:nvPicPr>
        <p:blipFill>
          <a:blip r:embed="rId3"/>
          <a:stretch>
            <a:fillRect/>
          </a:stretch>
        </p:blipFill>
        <p:spPr>
          <a:xfrm>
            <a:off x="659989" y="3538728"/>
            <a:ext cx="182880" cy="182880"/>
          </a:xfrm>
          <a:prstGeom prst="rect">
            <a:avLst/>
          </a:prstGeom>
        </p:spPr>
      </p:pic>
      <p:sp>
        <p:nvSpPr>
          <p:cNvPr id="19" name="Text 12"/>
          <p:cNvSpPr/>
          <p:nvPr/>
        </p:nvSpPr>
        <p:spPr>
          <a:xfrm>
            <a:off x="934309" y="3493008"/>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Softmax classification output</a:t>
            </a:r>
            <a:endParaRPr lang="en-US" sz="1050" dirty="0"/>
          </a:p>
        </p:txBody>
      </p:sp>
      <p:sp>
        <p:nvSpPr>
          <p:cNvPr id="20" name="Shape 13"/>
          <p:cNvSpPr/>
          <p:nvPr/>
        </p:nvSpPr>
        <p:spPr>
          <a:xfrm>
            <a:off x="4774789" y="1600200"/>
            <a:ext cx="3931920" cy="24688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21" name="Shape 14"/>
          <p:cNvSpPr/>
          <p:nvPr/>
        </p:nvSpPr>
        <p:spPr>
          <a:xfrm>
            <a:off x="4774789" y="1600200"/>
            <a:ext cx="3931920" cy="365760"/>
          </a:xfrm>
          <a:prstGeom prst="rect">
            <a:avLst/>
          </a:prstGeom>
          <a:solidFill>
            <a:srgbClr val="C0392B"/>
          </a:solidFill>
          <a:ln/>
        </p:spPr>
        <p:txBody>
          <a:bodyPr/>
          <a:lstStyle/>
          <a:p>
            <a:endParaRPr lang="en-IN"/>
          </a:p>
        </p:txBody>
      </p:sp>
      <p:sp>
        <p:nvSpPr>
          <p:cNvPr id="22" name="Text 15"/>
          <p:cNvSpPr/>
          <p:nvPr/>
        </p:nvSpPr>
        <p:spPr>
          <a:xfrm>
            <a:off x="4774789" y="1600200"/>
            <a:ext cx="393192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NP-Hard Sub-problems</a:t>
            </a:r>
            <a:endParaRPr lang="en-US" sz="1300" dirty="0"/>
          </a:p>
        </p:txBody>
      </p:sp>
      <p:pic>
        <p:nvPicPr>
          <p:cNvPr id="23" name="Image 5" descr="preencoded.png"/>
          <p:cNvPicPr>
            <a:picLocks noChangeAspect="1"/>
          </p:cNvPicPr>
          <p:nvPr/>
        </p:nvPicPr>
        <p:blipFill>
          <a:blip r:embed="rId4"/>
          <a:stretch>
            <a:fillRect/>
          </a:stretch>
        </p:blipFill>
        <p:spPr>
          <a:xfrm>
            <a:off x="4957669" y="2148840"/>
            <a:ext cx="182880" cy="182880"/>
          </a:xfrm>
          <a:prstGeom prst="rect">
            <a:avLst/>
          </a:prstGeom>
        </p:spPr>
      </p:pic>
      <p:sp>
        <p:nvSpPr>
          <p:cNvPr id="24" name="Text 16"/>
          <p:cNvSpPr/>
          <p:nvPr/>
        </p:nvSpPr>
        <p:spPr>
          <a:xfrm>
            <a:off x="5231989" y="2103120"/>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Optimal multimodal feature selection</a:t>
            </a:r>
            <a:endParaRPr lang="en-US" sz="1050" dirty="0"/>
          </a:p>
        </p:txBody>
      </p:sp>
      <p:pic>
        <p:nvPicPr>
          <p:cNvPr id="25" name="Image 6" descr="preencoded.png"/>
          <p:cNvPicPr>
            <a:picLocks noChangeAspect="1"/>
          </p:cNvPicPr>
          <p:nvPr/>
        </p:nvPicPr>
        <p:blipFill>
          <a:blip r:embed="rId4"/>
          <a:stretch>
            <a:fillRect/>
          </a:stretch>
        </p:blipFill>
        <p:spPr>
          <a:xfrm>
            <a:off x="4957669" y="2496312"/>
            <a:ext cx="182880" cy="182880"/>
          </a:xfrm>
          <a:prstGeom prst="rect">
            <a:avLst/>
          </a:prstGeom>
        </p:spPr>
      </p:pic>
      <p:sp>
        <p:nvSpPr>
          <p:cNvPr id="26" name="Text 17"/>
          <p:cNvSpPr/>
          <p:nvPr/>
        </p:nvSpPr>
        <p:spPr>
          <a:xfrm>
            <a:off x="5231989" y="2450592"/>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Combinatorial feature fusion search</a:t>
            </a:r>
            <a:endParaRPr lang="en-US" sz="1050" dirty="0"/>
          </a:p>
        </p:txBody>
      </p:sp>
      <p:pic>
        <p:nvPicPr>
          <p:cNvPr id="27" name="Image 7" descr="preencoded.png"/>
          <p:cNvPicPr>
            <a:picLocks noChangeAspect="1"/>
          </p:cNvPicPr>
          <p:nvPr/>
        </p:nvPicPr>
        <p:blipFill>
          <a:blip r:embed="rId4"/>
          <a:stretch>
            <a:fillRect/>
          </a:stretch>
        </p:blipFill>
        <p:spPr>
          <a:xfrm>
            <a:off x="4957669" y="2843784"/>
            <a:ext cx="182880" cy="182880"/>
          </a:xfrm>
          <a:prstGeom prst="rect">
            <a:avLst/>
          </a:prstGeom>
        </p:spPr>
      </p:pic>
      <p:sp>
        <p:nvSpPr>
          <p:cNvPr id="28" name="Text 18"/>
          <p:cNvSpPr/>
          <p:nvPr/>
        </p:nvSpPr>
        <p:spPr>
          <a:xfrm>
            <a:off x="5231989" y="2798064"/>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Hyperparameter optimization</a:t>
            </a:r>
            <a:endParaRPr lang="en-US" sz="1050" dirty="0"/>
          </a:p>
        </p:txBody>
      </p:sp>
      <p:pic>
        <p:nvPicPr>
          <p:cNvPr id="29" name="Image 8" descr="preencoded.png"/>
          <p:cNvPicPr>
            <a:picLocks noChangeAspect="1"/>
          </p:cNvPicPr>
          <p:nvPr/>
        </p:nvPicPr>
        <p:blipFill>
          <a:blip r:embed="rId4"/>
          <a:stretch>
            <a:fillRect/>
          </a:stretch>
        </p:blipFill>
        <p:spPr>
          <a:xfrm>
            <a:off x="4957669" y="3191256"/>
            <a:ext cx="182880" cy="182880"/>
          </a:xfrm>
          <a:prstGeom prst="rect">
            <a:avLst/>
          </a:prstGeom>
        </p:spPr>
      </p:pic>
      <p:sp>
        <p:nvSpPr>
          <p:cNvPr id="30" name="Text 19"/>
          <p:cNvSpPr/>
          <p:nvPr/>
        </p:nvSpPr>
        <p:spPr>
          <a:xfrm>
            <a:off x="5231989" y="3145536"/>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Network architecture search</a:t>
            </a:r>
            <a:endParaRPr lang="en-US" sz="1050" dirty="0"/>
          </a:p>
        </p:txBody>
      </p:sp>
      <p:pic>
        <p:nvPicPr>
          <p:cNvPr id="31" name="Image 9" descr="preencoded.png"/>
          <p:cNvPicPr>
            <a:picLocks noChangeAspect="1"/>
          </p:cNvPicPr>
          <p:nvPr/>
        </p:nvPicPr>
        <p:blipFill>
          <a:blip r:embed="rId4"/>
          <a:stretch>
            <a:fillRect/>
          </a:stretch>
        </p:blipFill>
        <p:spPr>
          <a:xfrm>
            <a:off x="4957669" y="3538728"/>
            <a:ext cx="182880" cy="182880"/>
          </a:xfrm>
          <a:prstGeom prst="rect">
            <a:avLst/>
          </a:prstGeom>
        </p:spPr>
      </p:pic>
      <p:sp>
        <p:nvSpPr>
          <p:cNvPr id="32" name="Text 20"/>
          <p:cNvSpPr/>
          <p:nvPr/>
        </p:nvSpPr>
        <p:spPr>
          <a:xfrm>
            <a:off x="5231989" y="3493008"/>
            <a:ext cx="3200400" cy="301752"/>
          </a:xfrm>
          <a:prstGeom prst="rect">
            <a:avLst/>
          </a:prstGeom>
          <a:noFill/>
          <a:ln/>
        </p:spPr>
        <p:txBody>
          <a:bodyPr wrap="square" lIns="0" tIns="0" rIns="0" bIns="0" rtlCol="0" anchor="ctr"/>
          <a:lstStyle/>
          <a:p>
            <a:pPr marL="0" indent="0">
              <a:buNone/>
            </a:pPr>
            <a:r>
              <a:rPr lang="en-US" sz="1050" dirty="0">
                <a:solidFill>
                  <a:srgbClr val="1C1C1C"/>
                </a:solidFill>
                <a:latin typeface="Calibri" pitchFamily="34" charset="0"/>
                <a:ea typeface="Calibri" pitchFamily="34" charset="-122"/>
                <a:cs typeface="Calibri" pitchFamily="34" charset="-120"/>
              </a:rPr>
              <a:t>Adversarial robustness tuning</a:t>
            </a:r>
            <a:endParaRPr lang="en-US" sz="1050" dirty="0"/>
          </a:p>
        </p:txBody>
      </p:sp>
      <p:sp>
        <p:nvSpPr>
          <p:cNvPr id="33" name="Text 21"/>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34" name="Text 22"/>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457200" y="-62483"/>
            <a:ext cx="8229600" cy="640080"/>
          </a:xfrm>
          <a:prstGeom prst="rect">
            <a:avLst/>
          </a:prstGeom>
          <a:noFill/>
          <a:ln/>
        </p:spPr>
        <p:txBody>
          <a:bodyPr wrap="square" lIns="0" tIns="0" rIns="0" bIns="0" rtlCol="0" anchor="ctr"/>
          <a:lstStyle/>
          <a:p>
            <a:pPr marL="0" indent="0" algn="ctr">
              <a:buNone/>
            </a:pPr>
            <a:r>
              <a:rPr lang="en-US" sz="2000" b="1" dirty="0">
                <a:solidFill>
                  <a:srgbClr val="1A2744"/>
                </a:solidFill>
                <a:latin typeface="Georgia" pitchFamily="34" charset="0"/>
                <a:ea typeface="Georgia" pitchFamily="34" charset="-122"/>
                <a:cs typeface="Georgia" pitchFamily="34" charset="-120"/>
              </a:rPr>
              <a:t>NP-COMPLETENESS</a:t>
            </a:r>
            <a:endParaRPr lang="en-US" sz="2000" dirty="0"/>
          </a:p>
        </p:txBody>
      </p:sp>
      <p:sp>
        <p:nvSpPr>
          <p:cNvPr id="3" name="Shape 1"/>
          <p:cNvSpPr/>
          <p:nvPr/>
        </p:nvSpPr>
        <p:spPr>
          <a:xfrm>
            <a:off x="3339830" y="428016"/>
            <a:ext cx="2464340" cy="0"/>
          </a:xfrm>
          <a:prstGeom prst="line">
            <a:avLst/>
          </a:prstGeom>
          <a:noFill/>
          <a:ln w="25400">
            <a:solidFill>
              <a:srgbClr val="C0392B"/>
            </a:solidFill>
            <a:prstDash val="solid"/>
          </a:ln>
        </p:spPr>
        <p:txBody>
          <a:bodyPr/>
          <a:lstStyle/>
          <a:p>
            <a:endParaRPr lang="en-IN" dirty="0"/>
          </a:p>
        </p:txBody>
      </p:sp>
      <p:sp>
        <p:nvSpPr>
          <p:cNvPr id="4" name="Shape 2"/>
          <p:cNvSpPr/>
          <p:nvPr/>
        </p:nvSpPr>
        <p:spPr>
          <a:xfrm>
            <a:off x="457200" y="754429"/>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457200" y="754429"/>
            <a:ext cx="64008" cy="822960"/>
          </a:xfrm>
          <a:prstGeom prst="rect">
            <a:avLst/>
          </a:prstGeom>
          <a:solidFill>
            <a:srgbClr val="1E3A5F"/>
          </a:solidFill>
          <a:ln/>
        </p:spPr>
        <p:txBody>
          <a:bodyPr/>
          <a:lstStyle/>
          <a:p>
            <a:endParaRPr lang="en-IN"/>
          </a:p>
        </p:txBody>
      </p:sp>
      <p:sp>
        <p:nvSpPr>
          <p:cNvPr id="6" name="Text 4"/>
          <p:cNvSpPr/>
          <p:nvPr/>
        </p:nvSpPr>
        <p:spPr>
          <a:xfrm>
            <a:off x="685800" y="800149"/>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Computational Complexity</a:t>
            </a:r>
            <a:endParaRPr lang="en-US" sz="1400" dirty="0"/>
          </a:p>
        </p:txBody>
      </p:sp>
      <p:sp>
        <p:nvSpPr>
          <p:cNvPr id="7" name="Text 5"/>
          <p:cNvSpPr/>
          <p:nvPr/>
        </p:nvSpPr>
        <p:spPr>
          <a:xfrm>
            <a:off x="685800" y="1120189"/>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Core operations — face detection, preprocessing, ResNeXt feature extraction, and BiLSTM temporal modeling — execute in polynomial time. Modern GPUs enable real-time scalability for large datasets.</a:t>
            </a:r>
            <a:endParaRPr lang="en-US" sz="1050" dirty="0"/>
          </a:p>
        </p:txBody>
      </p:sp>
      <p:sp>
        <p:nvSpPr>
          <p:cNvPr id="8" name="Shape 6"/>
          <p:cNvSpPr/>
          <p:nvPr/>
        </p:nvSpPr>
        <p:spPr>
          <a:xfrm>
            <a:off x="457200" y="1714549"/>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457200" y="1714549"/>
            <a:ext cx="64008" cy="822960"/>
          </a:xfrm>
          <a:prstGeom prst="rect">
            <a:avLst/>
          </a:prstGeom>
          <a:solidFill>
            <a:srgbClr val="148F77"/>
          </a:solidFill>
          <a:ln/>
        </p:spPr>
        <p:txBody>
          <a:bodyPr/>
          <a:lstStyle/>
          <a:p>
            <a:endParaRPr lang="en-IN"/>
          </a:p>
        </p:txBody>
      </p:sp>
      <p:sp>
        <p:nvSpPr>
          <p:cNvPr id="10" name="Text 8"/>
          <p:cNvSpPr/>
          <p:nvPr/>
        </p:nvSpPr>
        <p:spPr>
          <a:xfrm>
            <a:off x="685800" y="1760269"/>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NP-Hard Feature Fusion</a:t>
            </a:r>
            <a:endParaRPr lang="en-US" sz="1400" dirty="0"/>
          </a:p>
        </p:txBody>
      </p:sp>
      <p:sp>
        <p:nvSpPr>
          <p:cNvPr id="11" name="Text 9"/>
          <p:cNvSpPr/>
          <p:nvPr/>
        </p:nvSpPr>
        <p:spPr>
          <a:xfrm>
            <a:off x="685800" y="2080309"/>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Optimal multimodal feature selection across spatial and temporal data is combinatorially complex (NP-Hard). Heuristic methods like SGD, attention mechanisms, and backpropagation approximate near-optimal solutions.</a:t>
            </a:r>
            <a:endParaRPr lang="en-US" sz="1050" dirty="0"/>
          </a:p>
        </p:txBody>
      </p:sp>
      <p:sp>
        <p:nvSpPr>
          <p:cNvPr id="12" name="Shape 10"/>
          <p:cNvSpPr/>
          <p:nvPr/>
        </p:nvSpPr>
        <p:spPr>
          <a:xfrm>
            <a:off x="457200" y="2674669"/>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3" name="Shape 11"/>
          <p:cNvSpPr/>
          <p:nvPr/>
        </p:nvSpPr>
        <p:spPr>
          <a:xfrm>
            <a:off x="457200" y="2674669"/>
            <a:ext cx="64008" cy="822960"/>
          </a:xfrm>
          <a:prstGeom prst="rect">
            <a:avLst/>
          </a:prstGeom>
          <a:solidFill>
            <a:srgbClr val="1E3A5F"/>
          </a:solidFill>
          <a:ln/>
        </p:spPr>
        <p:txBody>
          <a:bodyPr/>
          <a:lstStyle/>
          <a:p>
            <a:endParaRPr lang="en-IN"/>
          </a:p>
        </p:txBody>
      </p:sp>
      <p:sp>
        <p:nvSpPr>
          <p:cNvPr id="14" name="Text 12"/>
          <p:cNvSpPr/>
          <p:nvPr/>
        </p:nvSpPr>
        <p:spPr>
          <a:xfrm>
            <a:off x="685800" y="2720389"/>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Satisfiability &amp; Consistency</a:t>
            </a:r>
            <a:endParaRPr lang="en-US" sz="1400" dirty="0"/>
          </a:p>
        </p:txBody>
      </p:sp>
      <p:sp>
        <p:nvSpPr>
          <p:cNvPr id="15" name="Text 13"/>
          <p:cNvSpPr/>
          <p:nvPr/>
        </p:nvSpPr>
        <p:spPr>
          <a:xfrm>
            <a:off x="685800" y="3040429"/>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Every pipeline stage satisfies structural constraints: input resolution validation, proper face alignment, temporal frame consistency, and feature dependency correctness during learning.</a:t>
            </a:r>
            <a:endParaRPr lang="en-US" sz="1050" dirty="0"/>
          </a:p>
        </p:txBody>
      </p:sp>
      <p:sp>
        <p:nvSpPr>
          <p:cNvPr id="16" name="Shape 14"/>
          <p:cNvSpPr/>
          <p:nvPr/>
        </p:nvSpPr>
        <p:spPr>
          <a:xfrm>
            <a:off x="457200" y="3634789"/>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457200" y="3634789"/>
            <a:ext cx="64008" cy="822960"/>
          </a:xfrm>
          <a:prstGeom prst="rect">
            <a:avLst/>
          </a:prstGeom>
          <a:solidFill>
            <a:srgbClr val="148F77"/>
          </a:solidFill>
          <a:ln/>
        </p:spPr>
        <p:txBody>
          <a:bodyPr/>
          <a:lstStyle/>
          <a:p>
            <a:endParaRPr lang="en-IN"/>
          </a:p>
        </p:txBody>
      </p:sp>
      <p:sp>
        <p:nvSpPr>
          <p:cNvPr id="18" name="Text 16"/>
          <p:cNvSpPr/>
          <p:nvPr/>
        </p:nvSpPr>
        <p:spPr>
          <a:xfrm>
            <a:off x="685800" y="3680509"/>
            <a:ext cx="7772400" cy="292608"/>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Algebraic Data Representation</a:t>
            </a:r>
            <a:endParaRPr lang="en-US" sz="1400" dirty="0"/>
          </a:p>
        </p:txBody>
      </p:sp>
      <p:sp>
        <p:nvSpPr>
          <p:cNvPr id="19" name="Text 17"/>
          <p:cNvSpPr/>
          <p:nvPr/>
        </p:nvSpPr>
        <p:spPr>
          <a:xfrm>
            <a:off x="685800" y="4000549"/>
            <a:ext cx="7772400" cy="402336"/>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Multimodal inputs are represented in high-dimensional vector spaces. Dot products, cosine similarity, and tensor transformations measure relationships between spatial and temporal features.</a:t>
            </a:r>
            <a:endParaRPr lang="en-US" sz="1050" dirty="0"/>
          </a:p>
        </p:txBody>
      </p:sp>
      <p:sp>
        <p:nvSpPr>
          <p:cNvPr id="20" name="Text 18"/>
          <p:cNvSpPr/>
          <p:nvPr/>
        </p:nvSpPr>
        <p:spPr>
          <a:xfrm>
            <a:off x="457200" y="4709160"/>
            <a:ext cx="1828800" cy="320040"/>
          </a:xfrm>
          <a:prstGeom prst="rect">
            <a:avLst/>
          </a:prstGeom>
          <a:noFill/>
          <a:ln/>
        </p:spPr>
        <p:txBody>
          <a:bodyPr wrap="square" rtlCol="0" anchor="ctr"/>
          <a:lstStyle/>
          <a:p>
            <a:pPr marL="0" indent="0">
              <a:buNone/>
            </a:pPr>
            <a:r>
              <a:rPr lang="en-US" sz="900" dirty="0">
                <a:solidFill>
                  <a:srgbClr val="5D6D7E"/>
                </a:solidFill>
                <a:latin typeface="Calibri" pitchFamily="34" charset="0"/>
                <a:ea typeface="Calibri" pitchFamily="34" charset="-122"/>
                <a:cs typeface="Calibri" pitchFamily="34" charset="-120"/>
              </a:rPr>
              <a:t>13 November 2025</a:t>
            </a:r>
            <a:endParaRPr lang="en-US" sz="900" dirty="0"/>
          </a:p>
        </p:txBody>
      </p:sp>
      <p:sp>
        <p:nvSpPr>
          <p:cNvPr id="21" name="Text 19"/>
          <p:cNvSpPr/>
          <p:nvPr/>
        </p:nvSpPr>
        <p:spPr>
          <a:xfrm>
            <a:off x="8229600" y="4709160"/>
            <a:ext cx="640080" cy="320040"/>
          </a:xfrm>
          <a:prstGeom prst="rect">
            <a:avLst/>
          </a:prstGeom>
          <a:noFill/>
          <a:ln/>
        </p:spPr>
        <p:txBody>
          <a:bodyPr wrap="square" rtlCol="0" anchor="ctr"/>
          <a:lstStyle/>
          <a:p>
            <a:pPr marL="0" indent="0" algn="r">
              <a:buNone/>
            </a:pPr>
            <a:r>
              <a:rPr lang="en-US" sz="900" dirty="0">
                <a:solidFill>
                  <a:srgbClr val="5D6D7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0392B"/>
          </a:solidFill>
          <a:ln/>
        </p:spPr>
        <p:txBody>
          <a:bodyPr/>
          <a:lstStyle/>
          <a:p>
            <a:endParaRPr lang="en-IN"/>
          </a:p>
        </p:txBody>
      </p:sp>
      <p:sp>
        <p:nvSpPr>
          <p:cNvPr id="3" name="Text 1"/>
          <p:cNvSpPr/>
          <p:nvPr/>
        </p:nvSpPr>
        <p:spPr>
          <a:xfrm>
            <a:off x="914400" y="1645920"/>
            <a:ext cx="7315200" cy="109728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THANK YOU</a:t>
            </a:r>
            <a:endParaRPr lang="en-US" sz="5200" dirty="0"/>
          </a:p>
        </p:txBody>
      </p:sp>
      <p:sp>
        <p:nvSpPr>
          <p:cNvPr id="4" name="Shape 2"/>
          <p:cNvSpPr/>
          <p:nvPr/>
        </p:nvSpPr>
        <p:spPr>
          <a:xfrm>
            <a:off x="3200400" y="2834640"/>
            <a:ext cx="2743200" cy="0"/>
          </a:xfrm>
          <a:prstGeom prst="line">
            <a:avLst/>
          </a:prstGeom>
          <a:noFill/>
          <a:ln w="38100">
            <a:solidFill>
              <a:srgbClr val="C0392B"/>
            </a:solidFill>
            <a:prstDash val="solid"/>
          </a:ln>
        </p:spPr>
        <p:txBody>
          <a:bodyPr/>
          <a:lstStyle/>
          <a:p>
            <a:endParaRPr lang="en-IN"/>
          </a:p>
        </p:txBody>
      </p:sp>
      <p:sp>
        <p:nvSpPr>
          <p:cNvPr id="5" name="Text 3"/>
          <p:cNvSpPr/>
          <p:nvPr/>
        </p:nvSpPr>
        <p:spPr>
          <a:xfrm>
            <a:off x="914400" y="3200400"/>
            <a:ext cx="7315200" cy="457200"/>
          </a:xfrm>
          <a:prstGeom prst="rect">
            <a:avLst/>
          </a:prstGeom>
          <a:noFill/>
          <a:ln/>
        </p:spPr>
        <p:txBody>
          <a:bodyPr wrap="square" rtlCol="0" anchor="ctr"/>
          <a:lstStyle/>
          <a:p>
            <a:pPr marL="0" indent="0" algn="ctr">
              <a:buNone/>
            </a:pPr>
            <a:r>
              <a:rPr lang="en-US" sz="1200" dirty="0">
                <a:solidFill>
                  <a:srgbClr val="8899AA"/>
                </a:solidFill>
                <a:latin typeface="Calibri" pitchFamily="34" charset="0"/>
                <a:ea typeface="Calibri" pitchFamily="34" charset="-122"/>
                <a:cs typeface="Calibri" pitchFamily="34" charset="-120"/>
              </a:rPr>
              <a:t>Team B03  |  Dept. of Computer Engineering  |  AVCOE, Sangamner</a:t>
            </a:r>
            <a:endParaRPr lang="en-US" sz="1200" dirty="0"/>
          </a:p>
        </p:txBody>
      </p:sp>
      <p:sp>
        <p:nvSpPr>
          <p:cNvPr id="6" name="Text 4"/>
          <p:cNvSpPr/>
          <p:nvPr/>
        </p:nvSpPr>
        <p:spPr>
          <a:xfrm>
            <a:off x="914400" y="3749040"/>
            <a:ext cx="7315200" cy="365760"/>
          </a:xfrm>
          <a:prstGeom prst="rect">
            <a:avLst/>
          </a:prstGeom>
          <a:noFill/>
          <a:ln/>
        </p:spPr>
        <p:txBody>
          <a:bodyPr wrap="square" rtlCol="0" anchor="ctr"/>
          <a:lstStyle/>
          <a:p>
            <a:pPr marL="0" indent="0" algn="ctr">
              <a:buNone/>
            </a:pPr>
            <a:r>
              <a:rPr lang="en-US" sz="1100" dirty="0">
                <a:solidFill>
                  <a:srgbClr val="AABBCC"/>
                </a:solidFill>
                <a:latin typeface="Calibri" pitchFamily="34" charset="0"/>
                <a:ea typeface="Calibri" pitchFamily="34" charset="-122"/>
                <a:cs typeface="Calibri" pitchFamily="34" charset="-120"/>
              </a:rPr>
              <a:t>Under the Guidance of Dr. R.S. Gaikwad</a:t>
            </a:r>
            <a:endParaRPr lang="en-US" sz="1100" dirty="0"/>
          </a:p>
        </p:txBody>
      </p:sp>
      <p:sp>
        <p:nvSpPr>
          <p:cNvPr id="7" name="Shape 5"/>
          <p:cNvSpPr/>
          <p:nvPr/>
        </p:nvSpPr>
        <p:spPr>
          <a:xfrm>
            <a:off x="0" y="5070348"/>
            <a:ext cx="9144000" cy="73152"/>
          </a:xfrm>
          <a:prstGeom prst="rect">
            <a:avLst/>
          </a:prstGeom>
          <a:solidFill>
            <a:srgbClr val="C0392B"/>
          </a:solidFill>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1506</Words>
  <Application>Microsoft Office PowerPoint</Application>
  <PresentationFormat>On-screen Show (16:9)</PresentationFormat>
  <Paragraphs>251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V - A Deep Learning-Based Framework for Face Authentication Detection</dc:title>
  <dc:subject>PptxGenJS Presentation</dc:subject>
  <dc:creator>Team B03</dc:creator>
  <cp:lastModifiedBy>Sarode, Aditya Somnath (Contractor)</cp:lastModifiedBy>
  <cp:revision>4</cp:revision>
  <dcterms:created xsi:type="dcterms:W3CDTF">2026-04-17T13:44:09Z</dcterms:created>
  <dcterms:modified xsi:type="dcterms:W3CDTF">2026-04-17T14:44:23Z</dcterms:modified>
</cp:coreProperties>
</file>